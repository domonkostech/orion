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30BCD-EA40-4F9D-B8C9-4E81B3FC09C3}" v="34" dt="2026-05-06T19:19:55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B2547-02AB-4C25-A1FC-796348E1011C}" type="datetimeFigureOut">
              <a:t>2026. 05. 06.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E9719-1DC2-4402-9A9D-B94B215A2C85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98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3A5F9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C5AA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01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2C5AA0">
              <a:alpha val="60000"/>
            </a:srgbClr>
          </a:solidFill>
          <a:ln w="12700">
            <a:solidFill>
              <a:srgbClr val="4A7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AAC4E8"/>
                </a:solidFill>
              </a:rPr>
              <a:t>PLATFORM ·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Diákmunka-platform közvetítők nélkül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3200400" cy="36576"/>
          </a:xfrm>
          <a:prstGeom prst="rect">
            <a:avLst/>
          </a:prstGeom>
          <a:solidFill>
            <a:srgbClr val="2C5AA0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74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Perczel Péter Géza  ·  Stieber Domonkos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nem működik a jelenlegi rendszer?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45920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556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Lassú ügyintézés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hárompólusú rendszer (diák–szövetkezet–cég) feleslegesen lelassítja a foglalkoztatást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417320"/>
            <a:ext cx="2651760" cy="640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645920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7556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Anyagi hátrány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diákok szignifikánsan alacsonyabb órabért kapnak a közvetítői díjak levonása után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417320"/>
            <a:ext cx="2651760" cy="640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1645920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75564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377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Bürokratikus terhek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17920" y="29260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Bonyolult adminisztráció a diákszövetkezeteken keresztül, sok papírmunka minden lépésnél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5AA0"/>
                </a:solidFill>
              </a:rPr>
              <a:t>Diák kevesebbet kap  →  cég többet fizet  →  különbség eltűnik a közvetítőnél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Megoldás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 kapcsolat diákok és cégek között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651760"/>
          </a:xfrm>
          <a:prstGeom prst="rect">
            <a:avLst/>
          </a:prstGeom>
          <a:solidFill>
            <a:srgbClr val="162E52"/>
          </a:solidFill>
          <a:ln w="12700">
            <a:solidFill>
              <a:srgbClr val="2A4A7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B8BBF"/>
                </a:solidFill>
              </a:rPr>
              <a:t>RÉGI MODELL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B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Szövetkezet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B8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34840" y="2286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C5AA0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651760"/>
          </a:xfrm>
          <a:prstGeom prst="rect">
            <a:avLst/>
          </a:prstGeom>
          <a:solidFill>
            <a:srgbClr val="2C5AA0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AC4E8"/>
                </a:solidFill>
              </a:rPr>
              <a:t>ÚJ MODELL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Diák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AA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162E5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</a:rPr>
              <a:t>A platform kezeli az adminisztrációt · Biztonságos piactér · Közvetlen szerződéskötés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Célcsoportok és Üzleti Érték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profitál az ORION platformból?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1554480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664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C5AA0"/>
                </a:solidFill>
              </a:rPr>
              <a:t>DIÁKOK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" y="2788920"/>
            <a:ext cx="36576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átlátható felület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" y="3319272"/>
            <a:ext cx="36576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319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Kevés adminisztráció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0352" y="3849624"/>
            <a:ext cx="36576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849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 szerződéskötés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0352" y="4379976"/>
            <a:ext cx="36576" cy="3200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379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chat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0040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6"/>
          <p:cNvSpPr/>
          <p:nvPr/>
        </p:nvSpPr>
        <p:spPr>
          <a:xfrm>
            <a:off x="4224528" y="15544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166420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37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F766E"/>
                </a:solidFill>
              </a:rPr>
              <a:t>CÉGEK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364992" y="2788920"/>
            <a:ext cx="36576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Gyorsabb jelöltelérés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364992" y="3319272"/>
            <a:ext cx="36576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1"/>
          <p:cNvSpPr/>
          <p:nvPr/>
        </p:nvSpPr>
        <p:spPr>
          <a:xfrm>
            <a:off x="3474720" y="3319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Önkiszolgáló hirdetéskezelés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364992" y="3849624"/>
            <a:ext cx="36576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3"/>
          <p:cNvSpPr/>
          <p:nvPr/>
        </p:nvSpPr>
        <p:spPr>
          <a:xfrm>
            <a:off x="3474720" y="3849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Beépített ATS rendszer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364992" y="4379976"/>
            <a:ext cx="36576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5"/>
          <p:cNvSpPr/>
          <p:nvPr/>
        </p:nvSpPr>
        <p:spPr>
          <a:xfrm>
            <a:off x="3474720" y="4379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KPI-ok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03504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28"/>
          <p:cNvSpPr/>
          <p:nvPr/>
        </p:nvSpPr>
        <p:spPr>
          <a:xfrm>
            <a:off x="7059168" y="15544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664208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7C3AED"/>
                </a:solidFill>
              </a:rPr>
              <a:t>PLATFORM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199632" y="2788920"/>
            <a:ext cx="3657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működés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199632" y="3319272"/>
            <a:ext cx="3657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3"/>
          <p:cNvSpPr/>
          <p:nvPr/>
        </p:nvSpPr>
        <p:spPr>
          <a:xfrm>
            <a:off x="6309360" y="3319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 architektúra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199632" y="3849624"/>
            <a:ext cx="3657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5"/>
          <p:cNvSpPr/>
          <p:nvPr/>
        </p:nvSpPr>
        <p:spPr>
          <a:xfrm>
            <a:off x="6309360" y="38496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Statisztikák és konverziók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199632" y="4379976"/>
            <a:ext cx="3657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37"/>
          <p:cNvSpPr/>
          <p:nvPr/>
        </p:nvSpPr>
        <p:spPr>
          <a:xfrm>
            <a:off x="6309360" y="4379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Folyamatos optimalizáció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mögötti technológiák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69748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0136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· Framer Motion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react-i18next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325880"/>
            <a:ext cx="269748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80136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Cookie · Zod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25880"/>
            <a:ext cx="2697480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80136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stemming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72768" y="30175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72768" y="3017520"/>
            <a:ext cx="2697480" cy="5486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1709928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09928" y="34930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 PGP titkosítás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URL-ek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53128" y="30175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53128" y="301752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INFRASTRUKTÚRA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0288" y="34930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(3 konténer)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GDPR-kompatibilis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Rendszerszintű Architektúra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Rétegzett, skálázható rendszer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475488"/>
          </a:xfrm>
          <a:prstGeom prst="rect">
            <a:avLst/>
          </a:prstGeom>
          <a:solidFill>
            <a:srgbClr val="2C5AA0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Böngésző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React + TypeScript + Vite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7772400" cy="475488"/>
          </a:xfrm>
          <a:prstGeom prst="rect">
            <a:avLst/>
          </a:prstGeom>
          <a:solidFill>
            <a:srgbClr val="1A4A80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202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Nginx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Reverse proxy (production)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7498080" cy="475488"/>
          </a:xfrm>
          <a:prstGeom prst="rect">
            <a:avLst/>
          </a:prstGeom>
          <a:solidFill>
            <a:srgbClr val="164070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5146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Express API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REST · Middleware · JWT · Zod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108960"/>
            <a:ext cx="7223760" cy="475488"/>
          </a:xfrm>
          <a:prstGeom prst="rect">
            <a:avLst/>
          </a:prstGeom>
          <a:solidFill>
            <a:srgbClr val="5B21B6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3108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OrionAI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Python FastAPI (NLP mikroszolgáltatás)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703320"/>
            <a:ext cx="6949440" cy="475488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370332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RealtimeServer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WebSocket + Supabase figyelés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4297680"/>
            <a:ext cx="6675120" cy="475488"/>
          </a:xfrm>
          <a:prstGeom prst="rect">
            <a:avLst/>
          </a:prstGeom>
          <a:solidFill>
            <a:srgbClr val="0C2A50"/>
          </a:solidFill>
          <a:ln/>
          <a:effectLst>
            <a:outerShdw blurRad="101600" dist="25400" dir="108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42976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Supabase / PostgreSQL</a:t>
            </a: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Adatbázis · RPC-k · pgcrypto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8046720" cy="0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Supabase Storage: CV-k, signed URL-ek (1 óra lejárat)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Adatbázis: Supabase / PostgreSQL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840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69164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Tábla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4904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felhasználók, cégek, hirdetések, üzenetek, dokumentumok…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3840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8521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14904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regisztráció, titkosított dokumentumkezelés, dashboard stat.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2608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260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 PGP titkosítás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Érzékeny adatok (személyi igazolvány, lakcímkártya) BYTEA formátumban tárolva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611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trigger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regisztrációkor automatikus statisztika rekord létrehozás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29768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2976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URL-ek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letöltési linkek 1 óra lejárattal – biztonságos fájlhozzáférés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és Express 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64008" cy="7498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Aszinkron architektúra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Eseményvezérelt, ideális párhuzamos I/O feladatokhoz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965960"/>
            <a:ext cx="64008" cy="7498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Promise-based routing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Kevesebb try-catch, átláthatóbb, karbantarthatóbb kód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880360"/>
            <a:ext cx="64008" cy="7498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Moduláris DDD felépítés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domain, mindegyik saját route/service párral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94760"/>
            <a:ext cx="64008" cy="74980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Fájlfeltöltés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330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→ Supabase Storage (max 5 MB, PDF/DOCX)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1051560"/>
            <a:ext cx="3017520" cy="3657600"/>
          </a:xfrm>
          <a:prstGeom prst="rect">
            <a:avLst/>
          </a:prstGeom>
          <a:solidFill>
            <a:srgbClr val="1E3D6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051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7FA8D0"/>
                </a:solidFill>
              </a:rPr>
              <a:t>FŐBB CSOMAGOK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6459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645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21031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03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25603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5603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0175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34747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474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97880" y="3931920"/>
            <a:ext cx="2560320" cy="329184"/>
          </a:xfrm>
          <a:prstGeom prst="roundRect">
            <a:avLst>
              <a:gd name="adj" fmla="val 11111"/>
            </a:avLst>
          </a:prstGeom>
          <a:solidFill>
            <a:srgbClr val="2C5AA0">
              <a:alpha val="70000"/>
            </a:srgbClr>
          </a:solidFill>
          <a:ln w="12700">
            <a:solidFill>
              <a:srgbClr val="3A6A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3931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(WebSocket)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 &amp; Adatvédelem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GDPR-kompatibilis, többrétegű biztonsági megközelítés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27048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367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08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httpOnly Cookie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védelem, kliensoldali JS nem fér hozzá a tokenhez, szerver validál minden kérésnél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13258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527048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63677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087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 PGP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77840" y="19202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Érzékeny dokumentumok titkosítva tárolva, GDPR-kompatibilis adatkezelés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3291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493008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0273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validáció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886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Kliens- és szerver oldalon – hibás adat az üzleti logikáig sem jut el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17720" y="3291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493008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6027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Route Guard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77840" y="3886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user/company/guest módok, rossz URL-en automatikus átirányítás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730A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7E22C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37560" y="256032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4338CA">
              <a:alpha val="5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256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A5B4FC"/>
                </a:solidFill>
              </a:rPr>
              <a:t>AI · NLP · KERESŐMOTOR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mikroszolgáltatás · Többnyelvű NLP keresőmotor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118872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Természetes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nyelvű keresés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95728" y="2468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5B4F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1920240" cy="118872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148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Normalizálás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stemming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468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5B4FC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1920240" cy="1188720"/>
          </a:xfrm>
          <a:prstGeom prst="rect">
            <a:avLst/>
          </a:prstGeom>
          <a:solidFill>
            <a:srgbClr val="9333EA">
              <a:alpha val="7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48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5B4F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03720" y="2148840"/>
            <a:ext cx="1920240" cy="118872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148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találat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C72A3"/>
                </a:solidFill>
              </a:rPr>
              <a:t>SÚLYOZOTT SCORING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005072"/>
            <a:ext cx="1920240" cy="621792"/>
          </a:xfrm>
          <a:prstGeom prst="rect">
            <a:avLst/>
          </a:prstGeom>
          <a:solidFill>
            <a:srgbClr val="6366F1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65%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Szöveges egyezés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657600" y="4005072"/>
            <a:ext cx="1920240" cy="621792"/>
          </a:xfrm>
          <a:prstGeom prst="rect">
            <a:avLst/>
          </a:prstGeom>
          <a:solidFill>
            <a:srgbClr val="8B5CF6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20%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Bér egyezés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0" y="4005072"/>
            <a:ext cx="1920240" cy="621792"/>
          </a:xfrm>
          <a:prstGeom prst="rect">
            <a:avLst/>
          </a:prstGeom>
          <a:solidFill>
            <a:srgbClr val="A855F7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40050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15%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Helyszín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19, Vite és TypeScript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560320" cy="3886200"/>
          </a:xfrm>
          <a:prstGeom prst="rect">
            <a:avLst/>
          </a:prstGeom>
          <a:solidFill>
            <a:srgbClr val="1E3D6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~25 000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A8C4E8"/>
                </a:solidFill>
                <a:ea typeface="Calibri"/>
                <a:cs typeface="Calibri"/>
              </a:rPr>
              <a:t>Sor </a:t>
            </a:r>
            <a:r>
              <a:rPr lang="en-US" sz="1300" dirty="0" err="1">
                <a:solidFill>
                  <a:srgbClr val="A8C4E8"/>
                </a:solidFill>
                <a:ea typeface="Calibri"/>
                <a:cs typeface="Calibri"/>
              </a:rPr>
              <a:t>Kód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statikus típusbiztonság · korai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hibadetektálás · könnyű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refaktorálás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60120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241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Komponens-alapú UI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HMR azonnali változáskövetéssel fejlesztés közben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947672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47672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0116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Állapotkezelés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35915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+ Custom Hooks – Redux felesleges overhead nélkül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2935224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935224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9992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UI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346704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 + Framer Motion: kártya-animációk, ATS kanban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3922776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922776"/>
            <a:ext cx="54864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9867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334256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react-i18next többnyelvű platform-támogatás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Chat: OrionMessenger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WebSocket-alapú valós idejű üzenetküldő rendszer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4672" y="1874520"/>
            <a:ext cx="36576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89888"/>
            <a:ext cx="530352" cy="53035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89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137160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37160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 mentése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/api/messages → adatbázisba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2606040"/>
            <a:ext cx="36576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21408"/>
            <a:ext cx="530352" cy="53035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21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10312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210312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tüzel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postgres_changes event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" y="3337560"/>
            <a:ext cx="36576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52928"/>
            <a:ext cx="530352" cy="53035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52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283464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63040" y="283464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elfogás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RealtimeServer elkapja az INSERT-et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" y="4069080"/>
            <a:ext cx="36576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84448"/>
            <a:ext cx="530352" cy="53035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356616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63040" y="356616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 küldése a klienseknek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80160" y="429768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429768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Azonnali megjelenítés, hiba esetén rollback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 és Teljesítmény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115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+ Vitest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Integrációs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115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290779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1460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51460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0779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6634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12280" y="2907792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1228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85%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1228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FCP: 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1.3s  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TBT: </a:t>
            </a: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   </a:t>
            </a: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CLS: </a:t>
            </a: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3A5F9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Infrastruktúra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Linux szerver · 3 Docker konténer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931920" cy="3291840"/>
          </a:xfrm>
          <a:prstGeom prst="rect">
            <a:avLst/>
          </a:prstGeom>
          <a:solidFill>
            <a:srgbClr val="162E52"/>
          </a:solidFill>
          <a:ln w="12700">
            <a:solidFill>
              <a:srgbClr val="2A4A78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71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7FA8D0"/>
                </a:solidFill>
              </a:rPr>
              <a:t>HETZNER SZERVER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152" y="1709518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2329375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29375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Linux-alapú dedikált szerver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713423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71342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(terminálás, rate limiting)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" y="3097471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09747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tanúsítványkezelés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" y="3481519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8151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Tűzfal + SSH kulcsos hozzáférés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" y="3865567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865567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biztonsági mentések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" y="4249615"/>
            <a:ext cx="36576" cy="2743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249615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GDPR-kompatibilis EU hosting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17720" y="137160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17720" y="13716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64748B"/>
                </a:solidFill>
              </a:rPr>
              <a:t>DOCKER KONTÉNEREK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1920240"/>
            <a:ext cx="3840480" cy="713232"/>
          </a:xfrm>
          <a:prstGeom prst="rect">
            <a:avLst/>
          </a:prstGeom>
          <a:solidFill>
            <a:srgbClr val="EEF2F8">
              <a:alpha val="60000"/>
            </a:srgbClr>
          </a:solidFill>
          <a:ln w="12700">
            <a:solidFill>
              <a:srgbClr val="2C5AA0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048256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19659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440680" y="22677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REST végpontok · JWT auth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54880" y="2788920"/>
            <a:ext cx="3840480" cy="713232"/>
          </a:xfrm>
          <a:prstGeom prst="rect">
            <a:avLst/>
          </a:prstGeom>
          <a:solidFill>
            <a:srgbClr val="EDE9FE">
              <a:alpha val="60000"/>
            </a:srgbClr>
          </a:solidFill>
          <a:ln w="12700">
            <a:solidFill>
              <a:srgbClr val="6D28D9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16936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44068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440680" y="31363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NLP keresőmotor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754880" y="3657600"/>
            <a:ext cx="3840480" cy="713232"/>
          </a:xfrm>
          <a:prstGeom prst="rect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0F766E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85616"/>
            <a:ext cx="438912" cy="4389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440680" y="3703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440680" y="4005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SSL · statikus fájlok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11480" y="4729089"/>
            <a:ext cx="8321040" cy="296243"/>
          </a:xfrm>
          <a:prstGeom prst="rect">
            <a:avLst/>
          </a:prstGeom>
          <a:solidFill>
            <a:srgbClr val="162E52"/>
          </a:solidFill>
          <a:ln w="12700">
            <a:solidFill>
              <a:srgbClr val="2A4A7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11480" y="4729089"/>
            <a:ext cx="8321040" cy="296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7FA8D0"/>
                </a:solidFill>
              </a:rPr>
              <a:t>docker compose up  ·  3 szolgáltatás  ·  izolált hálózat  ·  egyedi bridge  ·  healthcheck monitorozás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Jövőbeli Tervek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következő fejlesztési irányok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Shape 4"/>
          <p:cNvSpPr/>
          <p:nvPr/>
        </p:nvSpPr>
        <p:spPr>
          <a:xfrm>
            <a:off x="1389888" y="1554480"/>
            <a:ext cx="594360" cy="594360"/>
          </a:xfrm>
          <a:prstGeom prst="ellipse">
            <a:avLst/>
          </a:prstGeom>
          <a:solidFill>
            <a:srgbClr val="EEF2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664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369A1"/>
                </a:solidFill>
              </a:rPr>
              <a:t>MONETIZÁCIÓ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" y="2788920"/>
            <a:ext cx="36576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Szponzorált hirdetések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0352" y="3447288"/>
            <a:ext cx="36576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447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Prémium céges profilok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" y="4105656"/>
            <a:ext cx="36576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105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Részletesebb analitika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325880"/>
            <a:ext cx="265176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24528" y="1554480"/>
            <a:ext cx="594360" cy="59436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16642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65F46"/>
                </a:solidFill>
              </a:rPr>
              <a:t>UX FEJLESZTÉS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364992" y="2788920"/>
            <a:ext cx="36576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1" name="Text 17"/>
          <p:cNvSpPr/>
          <p:nvPr/>
        </p:nvSpPr>
        <p:spPr>
          <a:xfrm>
            <a:off x="347472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Mobilalkalmazás (React Native)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364992" y="3447288"/>
            <a:ext cx="36576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3447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Naptár integráció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364992" y="4105656"/>
            <a:ext cx="36576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5" name="Text 21"/>
          <p:cNvSpPr/>
          <p:nvPr/>
        </p:nvSpPr>
        <p:spPr>
          <a:xfrm>
            <a:off x="3474720" y="4105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OrionAI CV-optimalizálás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035040" y="132588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035040" y="1325880"/>
            <a:ext cx="2651760" cy="640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8" name="Shape 24"/>
          <p:cNvSpPr/>
          <p:nvPr/>
        </p:nvSpPr>
        <p:spPr>
          <a:xfrm>
            <a:off x="7059168" y="15544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664208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D28D9"/>
                </a:solidFill>
              </a:rPr>
              <a:t>INFRASTRUKTÚRA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199632" y="2788920"/>
            <a:ext cx="36576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2" name="Text 27"/>
          <p:cNvSpPr/>
          <p:nvPr/>
        </p:nvSpPr>
        <p:spPr>
          <a:xfrm>
            <a:off x="630936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megoldások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199632" y="3447288"/>
            <a:ext cx="36576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4" name="Text 29"/>
          <p:cNvSpPr/>
          <p:nvPr/>
        </p:nvSpPr>
        <p:spPr>
          <a:xfrm>
            <a:off x="6309360" y="3447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verziókezelés (v1/v2)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199632" y="4105656"/>
            <a:ext cx="36576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41056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+ bővebb E2E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3A5F9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C5AA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figyelmet!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2C5AA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– Diákmunka-platform közvetítők nélkül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4572000" cy="658368"/>
          </a:xfrm>
          <a:prstGeom prst="rect">
            <a:avLst/>
          </a:prstGeom>
          <a:solidFill>
            <a:srgbClr val="162E5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4747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Perczel Péter Géza  ·  Stieber Domonkos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7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Diavetítés a képernyőre (16:9 oldalarány)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17" baseType="lpstr"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 – Diákmunka-platform közvetítők nélkül</dc:title>
  <dc:subject>PptxGenJS Presentation</dc:subject>
  <dc:creator>Perczel Péter Géza · Stieber Domonkos</dc:creator>
  <cp:lastModifiedBy>Perczel Péter Géza · Stieber Domonkos</cp:lastModifiedBy>
  <cp:revision>15</cp:revision>
  <dcterms:created xsi:type="dcterms:W3CDTF">2026-05-06T19:16:55Z</dcterms:created>
  <dcterms:modified xsi:type="dcterms:W3CDTF">2026-05-06T19:26:09Z</dcterms:modified>
</cp:coreProperties>
</file>