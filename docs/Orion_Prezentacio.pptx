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2" r:id="rId9"/>
    <p:sldId id="263" r:id="rId10"/>
    <p:sldId id="273" r:id="rId11"/>
    <p:sldId id="264" r:id="rId12"/>
    <p:sldId id="265" r:id="rId13"/>
    <p:sldId id="267" r:id="rId14"/>
    <p:sldId id="266" r:id="rId15"/>
    <p:sldId id="269" r:id="rId16"/>
    <p:sldId id="268" r:id="rId17"/>
    <p:sldId id="274" r:id="rId18"/>
    <p:sldId id="278" r:id="rId19"/>
    <p:sldId id="276" r:id="rId20"/>
    <p:sldId id="270" r:id="rId21"/>
    <p:sldId id="271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3D6F"/>
    <a:srgbClr val="F1F5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B130BCD-EA40-4F9D-B8C9-4E81B3FC09C3}" v="34" dt="2026-05-06T19:19:55.0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40" d="100"/>
          <a:sy n="140" d="100"/>
        </p:scale>
        <p:origin x="-648" y="12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9B2547-02AB-4C25-A1FC-796348E1011C}" type="datetimeFigureOut">
              <a:t>2026. 05. 07.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BE9719-1DC2-4402-9A9D-B94B215A2C85}" type="slidenum"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89816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1371600"/>
            <a:ext cx="5486400" cy="5486400"/>
          </a:xfrm>
          <a:prstGeom prst="ellipse">
            <a:avLst/>
          </a:prstGeom>
          <a:solidFill>
            <a:srgbClr val="3A5F9E">
              <a:alpha val="25000"/>
            </a:srgbClr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5943600" y="2286000"/>
            <a:ext cx="4572000" cy="4572000"/>
          </a:xfrm>
          <a:prstGeom prst="ellipse">
            <a:avLst/>
          </a:prstGeom>
          <a:solidFill>
            <a:srgbClr val="2C5AA0">
              <a:alpha val="20000"/>
            </a:srgbClr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594360" y="960120"/>
            <a:ext cx="2194560" cy="320040"/>
          </a:xfrm>
          <a:prstGeom prst="roundRect">
            <a:avLst>
              <a:gd name="adj" fmla="val 14286"/>
            </a:avLst>
          </a:prstGeom>
          <a:solidFill>
            <a:srgbClr val="2C5AA0">
              <a:alpha val="60000"/>
            </a:srgbClr>
          </a:solidFill>
          <a:ln w="12700">
            <a:solidFill>
              <a:srgbClr val="4A7FC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594360" y="960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AAC4E8"/>
                </a:solidFill>
              </a:rPr>
              <a:t>PLATFORM · 2025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594360" y="274320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Diákmunka-platform közvetítők nélkül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94360" y="3337560"/>
            <a:ext cx="3200400" cy="36576"/>
          </a:xfrm>
          <a:prstGeom prst="rect">
            <a:avLst/>
          </a:prstGeom>
          <a:solidFill>
            <a:srgbClr val="2C5AA0">
              <a:alpha val="80000"/>
            </a:srgbClr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94360" y="34747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7FA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Perczel Péter Géza  ·  Stieber Domonkos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Probléma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Miért nem működik a jelenlegi rendszer?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2651760" cy="64008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594360" y="1645920"/>
            <a:ext cx="594360" cy="594360"/>
          </a:xfrm>
          <a:prstGeom prst="ellipse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hu-HU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755648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23774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Lassú ügyintézés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9260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hárompólusú rendszer (</a:t>
            </a:r>
            <a:r>
              <a:rPr lang="en-US" sz="11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</a:t>
            </a: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r>
              <a:rPr lang="hu-HU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közvetítő</a:t>
            </a: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–cég) feleslegesen lelassítja a foglalkoztatást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00400" y="1417320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Shape 8"/>
          <p:cNvSpPr/>
          <p:nvPr/>
        </p:nvSpPr>
        <p:spPr>
          <a:xfrm>
            <a:off x="3200400" y="1417320"/>
            <a:ext cx="2651760" cy="64008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2" name="Shape 9"/>
          <p:cNvSpPr/>
          <p:nvPr/>
        </p:nvSpPr>
        <p:spPr>
          <a:xfrm>
            <a:off x="3429000" y="1645920"/>
            <a:ext cx="594360" cy="594360"/>
          </a:xfrm>
          <a:prstGeom prst="ellipse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hu-HU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755648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83280" y="23774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Anyagi hátrány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383280" y="29260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diákok szignifikánsan alacsonyabb órabért kapnak a közvetítői díjak levonása után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035040" y="1417320"/>
            <a:ext cx="26517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7" name="Shape 13"/>
          <p:cNvSpPr/>
          <p:nvPr/>
        </p:nvSpPr>
        <p:spPr>
          <a:xfrm>
            <a:off x="6035040" y="1417320"/>
            <a:ext cx="2651760" cy="64008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8" name="Shape 14"/>
          <p:cNvSpPr/>
          <p:nvPr/>
        </p:nvSpPr>
        <p:spPr>
          <a:xfrm>
            <a:off x="6263640" y="1645920"/>
            <a:ext cx="594360" cy="594360"/>
          </a:xfrm>
          <a:prstGeom prst="ellipse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hu-HU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1755648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3774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Bürokratikus terhek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6217920" y="29260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Bonyolult adminisztráció a diákszövetkezeteken keresztül, sok papírmunka minden lépésnél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solidFill>
            <a:srgbClr val="EEF2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18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C5AA0"/>
                </a:solidFill>
              </a:rPr>
              <a:t>Diák kevesebbet kap  →  cég többet fizet  →  különbség eltűnik a közvetítőnél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3D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Megoldás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Közvetlen kapcsolat diákok és cégek között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2651760"/>
          </a:xfrm>
          <a:prstGeom prst="rect">
            <a:avLst/>
          </a:prstGeom>
          <a:solidFill>
            <a:srgbClr val="162E52"/>
          </a:solidFill>
          <a:ln w="12700">
            <a:solidFill>
              <a:srgbClr val="2A4A78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6B8BBF"/>
                </a:solidFill>
              </a:rPr>
              <a:t>RÉGI MODELL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39319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6B8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Szövetkezet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6B8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434840" y="228600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931920" cy="2651760"/>
          </a:xfrm>
          <a:prstGeom prst="rect">
            <a:avLst/>
          </a:prstGeom>
          <a:solidFill>
            <a:srgbClr val="2C5AA0"/>
          </a:solidFill>
          <a:ln/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4754880" y="14173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AAC4E8"/>
                </a:solidFill>
              </a:rPr>
              <a:t>ÚJ MODELL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920240"/>
            <a:ext cx="39319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Diák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dirty="0">
                <a:solidFill>
                  <a:srgbClr val="AA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Cég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57200" y="4251960"/>
            <a:ext cx="8229600" cy="640080"/>
          </a:xfrm>
          <a:prstGeom prst="rect">
            <a:avLst/>
          </a:prstGeom>
          <a:solidFill>
            <a:srgbClr val="162E52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C4E8"/>
                </a:solidFill>
              </a:rPr>
              <a:t>A platform kezeli az adminisztrációt · </a:t>
            </a:r>
            <a:r>
              <a:rPr lang="en-US" sz="1200" dirty="0" err="1">
                <a:solidFill>
                  <a:srgbClr val="A8C4E8"/>
                </a:solidFill>
              </a:rPr>
              <a:t>Biztonságos</a:t>
            </a:r>
            <a:r>
              <a:rPr lang="en-US" sz="1200" dirty="0">
                <a:solidFill>
                  <a:srgbClr val="A8C4E8"/>
                </a:solidFill>
              </a:rPr>
              <a:t> </a:t>
            </a:r>
            <a:r>
              <a:rPr lang="en-US" sz="1200" dirty="0" err="1">
                <a:solidFill>
                  <a:srgbClr val="A8C4E8"/>
                </a:solidFill>
              </a:rPr>
              <a:t>piact</a:t>
            </a:r>
            <a:r>
              <a:rPr lang="hu-HU" sz="1200" dirty="0">
                <a:solidFill>
                  <a:srgbClr val="A8C4E8"/>
                </a:solidFill>
              </a:rPr>
              <a:t>eret ad</a:t>
            </a:r>
            <a:r>
              <a:rPr lang="en-US" sz="1200" dirty="0">
                <a:solidFill>
                  <a:srgbClr val="A8C4E8"/>
                </a:solidFill>
              </a:rPr>
              <a:t> · </a:t>
            </a:r>
            <a:r>
              <a:rPr lang="en-US" sz="1200" dirty="0" err="1">
                <a:solidFill>
                  <a:srgbClr val="A8C4E8"/>
                </a:solidFill>
              </a:rPr>
              <a:t>Közvetlen</a:t>
            </a:r>
            <a:r>
              <a:rPr lang="en-US" sz="1200" dirty="0">
                <a:solidFill>
                  <a:srgbClr val="A8C4E8"/>
                </a:solidFill>
              </a:rPr>
              <a:t> </a:t>
            </a:r>
            <a:r>
              <a:rPr lang="en-US" sz="1200" dirty="0" err="1">
                <a:solidFill>
                  <a:srgbClr val="A8C4E8"/>
                </a:solidFill>
              </a:rPr>
              <a:t>szerződéskötés</a:t>
            </a:r>
            <a:r>
              <a:rPr lang="hu-HU" sz="1200" dirty="0">
                <a:solidFill>
                  <a:srgbClr val="A8C4E8"/>
                </a:solidFill>
              </a:rPr>
              <a:t>t kinál</a:t>
            </a:r>
            <a:endParaRPr 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B014DF-F7A6-C595-8379-013CABC5DE80}"/>
              </a:ext>
            </a:extLst>
          </p:cNvPr>
          <p:cNvSpPr txBox="1"/>
          <p:nvPr/>
        </p:nvSpPr>
        <p:spPr>
          <a:xfrm>
            <a:off x="2286000" y="2387937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2C5AA0"/>
                </a:solidFill>
              </a:rPr>
              <a:t>→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67719" y="41725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Célcsoportok és Üzleti Érték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640461" y="1261872"/>
            <a:ext cx="265176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1640461" y="1261872"/>
            <a:ext cx="2651760" cy="64008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2664589" y="1490472"/>
            <a:ext cx="594360" cy="594360"/>
          </a:xfrm>
          <a:prstGeom prst="ellipse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hu-HU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4317" y="16002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77621" y="22219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2C5AA0"/>
                </a:solidFill>
              </a:rPr>
              <a:t>DIÁKOK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1805053" y="2724912"/>
            <a:ext cx="36576" cy="320040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0" name="Text 7"/>
          <p:cNvSpPr/>
          <p:nvPr/>
        </p:nvSpPr>
        <p:spPr>
          <a:xfrm>
            <a:off x="1914781" y="27249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Modern, átlátható felület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1805053" y="3255264"/>
            <a:ext cx="36576" cy="320040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2" name="Text 9"/>
          <p:cNvSpPr/>
          <p:nvPr/>
        </p:nvSpPr>
        <p:spPr>
          <a:xfrm>
            <a:off x="1914781" y="325526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Kevés adminisztráció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1805053" y="3785616"/>
            <a:ext cx="36576" cy="320040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4" name="Text 11"/>
          <p:cNvSpPr/>
          <p:nvPr/>
        </p:nvSpPr>
        <p:spPr>
          <a:xfrm>
            <a:off x="1914781" y="378561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Közvetlen szerződéskötés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1805053" y="4315968"/>
            <a:ext cx="36576" cy="320040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6" name="Text 13"/>
          <p:cNvSpPr/>
          <p:nvPr/>
        </p:nvSpPr>
        <p:spPr>
          <a:xfrm>
            <a:off x="1914781" y="43159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Valós idejű chat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851779" y="1261872"/>
            <a:ext cx="265176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Shape 15"/>
          <p:cNvSpPr/>
          <p:nvPr/>
        </p:nvSpPr>
        <p:spPr>
          <a:xfrm>
            <a:off x="4851779" y="1261872"/>
            <a:ext cx="2651760" cy="64008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9" name="Shape 16"/>
          <p:cNvSpPr/>
          <p:nvPr/>
        </p:nvSpPr>
        <p:spPr>
          <a:xfrm>
            <a:off x="5875907" y="1490472"/>
            <a:ext cx="594360" cy="59436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hu-HU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5635" y="1600200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988939" y="22219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0F766E"/>
                </a:solidFill>
              </a:rPr>
              <a:t>CÉGEK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5016371" y="2724912"/>
            <a:ext cx="36576" cy="32004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3" name="Text 19"/>
          <p:cNvSpPr/>
          <p:nvPr/>
        </p:nvSpPr>
        <p:spPr>
          <a:xfrm>
            <a:off x="5126099" y="27249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Gyorsabb jelöltelérés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5016371" y="3255264"/>
            <a:ext cx="36576" cy="32004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5" name="Text 21"/>
          <p:cNvSpPr/>
          <p:nvPr/>
        </p:nvSpPr>
        <p:spPr>
          <a:xfrm>
            <a:off x="5126099" y="325526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Önkiszolgáló hirdetéskezelés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5016371" y="3785616"/>
            <a:ext cx="36576" cy="32004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7" name="Text 23"/>
          <p:cNvSpPr/>
          <p:nvPr/>
        </p:nvSpPr>
        <p:spPr>
          <a:xfrm>
            <a:off x="5126099" y="378561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Beépített ATS rendszer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5016371" y="4315968"/>
            <a:ext cx="36576" cy="32004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9" name="Text 25"/>
          <p:cNvSpPr/>
          <p:nvPr/>
        </p:nvSpPr>
        <p:spPr>
          <a:xfrm>
            <a:off x="5126099" y="43159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KPI-ok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Teljes Tech Stack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mögötti technológiák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25880"/>
            <a:ext cx="26974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274320" y="1325880"/>
            <a:ext cx="2697480" cy="54864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411480" y="141732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801368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TypeScript + Vite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· Framer Motion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react-i18next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54680" y="1325880"/>
            <a:ext cx="26974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9" name="Shape 7"/>
          <p:cNvSpPr/>
          <p:nvPr/>
        </p:nvSpPr>
        <p:spPr>
          <a:xfrm>
            <a:off x="3154680" y="1325880"/>
            <a:ext cx="2697480" cy="54864"/>
          </a:xfrm>
          <a:prstGeom prst="rect">
            <a:avLst/>
          </a:prstGeom>
          <a:solidFill>
            <a:srgbClr val="065F4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3291840" y="141732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1801368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 5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httpOnly Cookie · Zod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325880"/>
            <a:ext cx="26974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Shape 11"/>
          <p:cNvSpPr/>
          <p:nvPr/>
        </p:nvSpPr>
        <p:spPr>
          <a:xfrm>
            <a:off x="6035040" y="1325880"/>
            <a:ext cx="2697480" cy="54864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6172200" y="141732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ORIONAI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72200" y="1801368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NLTK stemming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572768" y="3017520"/>
            <a:ext cx="26974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7" name="Shape 15"/>
          <p:cNvSpPr/>
          <p:nvPr/>
        </p:nvSpPr>
        <p:spPr>
          <a:xfrm>
            <a:off x="1572768" y="3017520"/>
            <a:ext cx="2697480" cy="54864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1709928" y="31089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ADATBÁZIS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09928" y="3493008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/ PostgreSQL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pgcrypto PGP titkosítás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URL-ek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53128" y="3017520"/>
            <a:ext cx="26974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1" name="Shape 19"/>
          <p:cNvSpPr/>
          <p:nvPr/>
        </p:nvSpPr>
        <p:spPr>
          <a:xfrm>
            <a:off x="4453128" y="3017520"/>
            <a:ext cx="2697480" cy="54864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2" name="Text 20"/>
          <p:cNvSpPr/>
          <p:nvPr/>
        </p:nvSpPr>
        <p:spPr>
          <a:xfrm>
            <a:off x="4590288" y="31089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INFRASTRUKTÚRA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90288" y="3493008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(3 konténer)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reverse proxy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GDPR-kompatibilis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Rendszerszintű Architektúra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Rétegzett, skálázható rendszer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8046720" cy="475488"/>
          </a:xfrm>
          <a:prstGeom prst="rect">
            <a:avLst/>
          </a:prstGeom>
          <a:solidFill>
            <a:srgbClr val="2C5AA0"/>
          </a:solidFill>
          <a:ln/>
          <a:effectLst>
            <a:outerShdw blurRad="101600" dist="25400" dir="108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731520" y="132588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Böngésző</a:t>
            </a:r>
            <a:r>
              <a:rPr lang="en-US" sz="120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 React + TypeScript + Vite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85800" y="1920240"/>
            <a:ext cx="7772400" cy="475488"/>
          </a:xfrm>
          <a:prstGeom prst="rect">
            <a:avLst/>
          </a:prstGeom>
          <a:solidFill>
            <a:srgbClr val="1A4A80"/>
          </a:solidFill>
          <a:ln/>
          <a:effectLst>
            <a:outerShdw blurRad="101600" dist="25400" dir="108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Nginx</a:t>
            </a:r>
            <a:r>
              <a:rPr lang="en-US" sz="120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 Reverse proxy (production)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2514600"/>
            <a:ext cx="7498080" cy="475488"/>
          </a:xfrm>
          <a:prstGeom prst="rect">
            <a:avLst/>
          </a:prstGeom>
          <a:solidFill>
            <a:srgbClr val="164070"/>
          </a:solidFill>
          <a:ln/>
          <a:effectLst>
            <a:outerShdw blurRad="101600" dist="25400" dir="108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1005840" y="251460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Express API</a:t>
            </a:r>
            <a:r>
              <a:rPr lang="en-US" sz="120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 REST · Middleware · JWT · Zod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108960"/>
            <a:ext cx="3511796" cy="475488"/>
          </a:xfrm>
          <a:prstGeom prst="rect">
            <a:avLst/>
          </a:prstGeom>
          <a:solidFill>
            <a:srgbClr val="5B21B6"/>
          </a:solidFill>
          <a:ln/>
          <a:effectLst>
            <a:outerShdw blurRad="101600" dist="25400" dir="108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1047238" y="3090672"/>
            <a:ext cx="6949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OrionAI</a:t>
            </a:r>
            <a:r>
              <a:rPr lang="en-US" sz="120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 Python FastAPI (NLP mikroszolgáltatás)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0" y="3108960"/>
            <a:ext cx="3666244" cy="475488"/>
          </a:xfrm>
          <a:prstGeom prst="rect">
            <a:avLst/>
          </a:prstGeom>
          <a:solidFill>
            <a:srgbClr val="0F3460"/>
          </a:solidFill>
          <a:ln/>
          <a:effectLst>
            <a:outerShdw blurRad="101600" dist="25400" dir="108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4754880" y="3090672"/>
            <a:ext cx="6675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RealtimeServer</a:t>
            </a:r>
            <a:r>
              <a:rPr lang="en-US" sz="120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 WebSocket + Supabase figyelés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280160" y="3694176"/>
            <a:ext cx="6675120" cy="475488"/>
          </a:xfrm>
          <a:prstGeom prst="rect">
            <a:avLst/>
          </a:prstGeom>
          <a:solidFill>
            <a:srgbClr val="0C2A50"/>
          </a:solidFill>
          <a:ln/>
          <a:effectLst>
            <a:outerShdw blurRad="101600" dist="25400" dir="108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5" name="Text 13"/>
          <p:cNvSpPr/>
          <p:nvPr/>
        </p:nvSpPr>
        <p:spPr>
          <a:xfrm>
            <a:off x="1463040" y="3694176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Supabase / PostgreSQL</a:t>
            </a:r>
            <a:r>
              <a:rPr lang="en-US" sz="120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 Adatbázis · RPC-k · pgcrypto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8046720" cy="0"/>
          </a:xfrm>
          <a:prstGeom prst="rect">
            <a:avLst/>
          </a:prstGeom>
          <a:noFill/>
          <a:ln/>
        </p:spPr>
        <p:txBody>
          <a:bodyPr/>
          <a:lstStyle/>
          <a:p>
            <a:endParaRPr lang="hu-H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Adatbázis: Supabase / PostgreSQL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11480" y="960120"/>
            <a:ext cx="38404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2C5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169164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Tábla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691640" y="1289643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felhasználók, cégek, hirdetések, üzenetek, dokumentumok…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960120"/>
            <a:ext cx="38404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4800600" y="10515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2C5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852160" y="124358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RPC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852160" y="1236811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regisztráció, titkosított dokumentumkezelés, dashboard stat.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2926080"/>
            <a:ext cx="83210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640080" y="2926080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pgcrypto PGP titkosítás  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Érzékeny adatok (személyi igazolvány, lakcímkártya) BYTEA formátumban tárolva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611880"/>
            <a:ext cx="83210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640080" y="3611880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Automatikus trigger  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Új regisztrációkor automatikus statisztika rekord létrehozás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4297680"/>
            <a:ext cx="832104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URL-ek  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letöltési linkek 1 óra lejárattal – biztonságos fájlhozzáférés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1999963" y="-1999641"/>
            <a:ext cx="5143500" cy="9143425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1733" y="0"/>
            <a:ext cx="6803134" cy="5143179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737118" y="-1264380"/>
            <a:ext cx="3670923" cy="9145160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879CA1-87F7-28E6-DA70-F16EC7F488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2" y="321"/>
            <a:ext cx="8430913" cy="5142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1960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Node.js és Express 5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50292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411480" y="1051560"/>
            <a:ext cx="64008" cy="749808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594360" y="10972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Aszinkron architektúra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3898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Eseményvezérelt, ideális párhuzamos I/O feladatokhoz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11480" y="1965960"/>
            <a:ext cx="50292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411480" y="1965960"/>
            <a:ext cx="64008" cy="749808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594360" y="20116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Promise-based routing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23042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Kevesebb try-catch, átláthatóbb, karbantarthatóbb kód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11480" y="2880360"/>
            <a:ext cx="50292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Shape 10"/>
          <p:cNvSpPr/>
          <p:nvPr/>
        </p:nvSpPr>
        <p:spPr>
          <a:xfrm>
            <a:off x="411480" y="2880360"/>
            <a:ext cx="64008" cy="749808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594360" y="29260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Moduláris DDD felépítés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32186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domain, mindegyik saját route/service párral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94760"/>
            <a:ext cx="50292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6" name="Shape 14"/>
          <p:cNvSpPr/>
          <p:nvPr/>
        </p:nvSpPr>
        <p:spPr>
          <a:xfrm>
            <a:off x="411480" y="3794760"/>
            <a:ext cx="64008" cy="749808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7" name="Text 15"/>
          <p:cNvSpPr/>
          <p:nvPr/>
        </p:nvSpPr>
        <p:spPr>
          <a:xfrm>
            <a:off x="594360" y="38404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Fájlfeltöltés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41330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Multer → Supabase Storage (max 5 MB, PDF/DOCX)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0" y="1051560"/>
            <a:ext cx="3017520" cy="3657600"/>
          </a:xfrm>
          <a:prstGeom prst="rect">
            <a:avLst/>
          </a:prstGeom>
          <a:solidFill>
            <a:srgbClr val="1E3D6F"/>
          </a:solidFill>
          <a:ln/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0" name="Text 18"/>
          <p:cNvSpPr/>
          <p:nvPr/>
        </p:nvSpPr>
        <p:spPr>
          <a:xfrm>
            <a:off x="5669280" y="1051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200" dirty="0">
                <a:solidFill>
                  <a:srgbClr val="7FA8D0"/>
                </a:solidFill>
              </a:rPr>
              <a:t>FŐBB CSOMAGOK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897880" y="1645920"/>
            <a:ext cx="2560320" cy="329184"/>
          </a:xfrm>
          <a:prstGeom prst="roundRect">
            <a:avLst>
              <a:gd name="adj" fmla="val 11111"/>
            </a:avLst>
          </a:prstGeom>
          <a:solidFill>
            <a:srgbClr val="2C5AA0">
              <a:alpha val="70000"/>
            </a:srgbClr>
          </a:solidFill>
          <a:ln w="12700">
            <a:solidFill>
              <a:srgbClr val="3A6AB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2" name="Text 20"/>
          <p:cNvSpPr/>
          <p:nvPr/>
        </p:nvSpPr>
        <p:spPr>
          <a:xfrm>
            <a:off x="5897880" y="16459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jsonwebtoken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897880" y="2103120"/>
            <a:ext cx="2560320" cy="329184"/>
          </a:xfrm>
          <a:prstGeom prst="roundRect">
            <a:avLst>
              <a:gd name="adj" fmla="val 11111"/>
            </a:avLst>
          </a:prstGeom>
          <a:solidFill>
            <a:srgbClr val="2C5AA0">
              <a:alpha val="70000"/>
            </a:srgbClr>
          </a:solidFill>
          <a:ln w="12700">
            <a:solidFill>
              <a:srgbClr val="3A6AB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bcryptjs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897880" y="2560320"/>
            <a:ext cx="2560320" cy="329184"/>
          </a:xfrm>
          <a:prstGeom prst="roundRect">
            <a:avLst>
              <a:gd name="adj" fmla="val 11111"/>
            </a:avLst>
          </a:prstGeom>
          <a:solidFill>
            <a:srgbClr val="2C5AA0">
              <a:alpha val="70000"/>
            </a:srgbClr>
          </a:solidFill>
          <a:ln w="12700">
            <a:solidFill>
              <a:srgbClr val="3A6AB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6" name="Text 24"/>
          <p:cNvSpPr/>
          <p:nvPr/>
        </p:nvSpPr>
        <p:spPr>
          <a:xfrm>
            <a:off x="5897880" y="25603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Multer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897880" y="3017520"/>
            <a:ext cx="2560320" cy="329184"/>
          </a:xfrm>
          <a:prstGeom prst="roundRect">
            <a:avLst>
              <a:gd name="adj" fmla="val 11111"/>
            </a:avLst>
          </a:prstGeom>
          <a:solidFill>
            <a:srgbClr val="2C5AA0">
              <a:alpha val="70000"/>
            </a:srgbClr>
          </a:solidFill>
          <a:ln w="12700">
            <a:solidFill>
              <a:srgbClr val="3A6AB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8" name="Text 26"/>
          <p:cNvSpPr/>
          <p:nvPr/>
        </p:nvSpPr>
        <p:spPr>
          <a:xfrm>
            <a:off x="5897880" y="30175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Nodemailer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897880" y="3474720"/>
            <a:ext cx="2560320" cy="329184"/>
          </a:xfrm>
          <a:prstGeom prst="roundRect">
            <a:avLst>
              <a:gd name="adj" fmla="val 11111"/>
            </a:avLst>
          </a:prstGeom>
          <a:solidFill>
            <a:srgbClr val="2C5AA0">
              <a:alpha val="70000"/>
            </a:srgbClr>
          </a:solidFill>
          <a:ln w="12700">
            <a:solidFill>
              <a:srgbClr val="3A6AB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0" name="Text 28"/>
          <p:cNvSpPr/>
          <p:nvPr/>
        </p:nvSpPr>
        <p:spPr>
          <a:xfrm>
            <a:off x="5897880" y="34747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897880" y="3931920"/>
            <a:ext cx="2560320" cy="329184"/>
          </a:xfrm>
          <a:prstGeom prst="roundRect">
            <a:avLst>
              <a:gd name="adj" fmla="val 11111"/>
            </a:avLst>
          </a:prstGeom>
          <a:solidFill>
            <a:srgbClr val="2C5AA0">
              <a:alpha val="70000"/>
            </a:srgbClr>
          </a:solidFill>
          <a:ln w="12700">
            <a:solidFill>
              <a:srgbClr val="3A6AB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2" name="Text 30"/>
          <p:cNvSpPr/>
          <p:nvPr/>
        </p:nvSpPr>
        <p:spPr>
          <a:xfrm>
            <a:off x="5897880" y="393192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 (WebSocket)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1999963" y="-1999641"/>
            <a:ext cx="5143500" cy="9143425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1733" y="0"/>
            <a:ext cx="6803134" cy="5143179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737118" y="-1264380"/>
            <a:ext cx="3670923" cy="9145160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6003A7-94C3-CDF9-451E-B5A202962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93" y="298529"/>
            <a:ext cx="8811039" cy="4546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0279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Biztonság &amp; Adatvédelem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GDPR-kompatibilis, többrétegű biztonsági megközelítés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40233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D312D7F-CF59-0B2A-A44F-8071D010BF07}"/>
              </a:ext>
            </a:extLst>
          </p:cNvPr>
          <p:cNvGrpSpPr/>
          <p:nvPr/>
        </p:nvGrpSpPr>
        <p:grpSpPr>
          <a:xfrm>
            <a:off x="548640" y="1527048"/>
            <a:ext cx="594360" cy="594360"/>
            <a:chOff x="548640" y="1527048"/>
            <a:chExt cx="594360" cy="594360"/>
          </a:xfrm>
        </p:grpSpPr>
        <p:sp>
          <p:nvSpPr>
            <p:cNvPr id="5" name="Shape 3"/>
            <p:cNvSpPr/>
            <p:nvPr/>
          </p:nvSpPr>
          <p:spPr>
            <a:xfrm>
              <a:off x="548640" y="1527048"/>
              <a:ext cx="594360" cy="594360"/>
            </a:xfrm>
            <a:prstGeom prst="ellipse">
              <a:avLst/>
            </a:prstGeom>
            <a:solidFill>
              <a:srgbClr val="EEF2F8"/>
            </a:solidFill>
            <a:ln/>
          </p:spPr>
          <p:txBody>
            <a:bodyPr/>
            <a:lstStyle/>
            <a:p>
              <a:endParaRPr lang="hu-HU"/>
            </a:p>
          </p:txBody>
        </p:sp>
        <p:pic>
          <p:nvPicPr>
            <p:cNvPr id="6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8368" y="1636776"/>
              <a:ext cx="365760" cy="365760"/>
            </a:xfrm>
            <a:prstGeom prst="rect">
              <a:avLst/>
            </a:prstGeom>
          </p:spPr>
        </p:pic>
      </p:grpSp>
      <p:sp>
        <p:nvSpPr>
          <p:cNvPr id="7" name="Text 4"/>
          <p:cNvSpPr/>
          <p:nvPr/>
        </p:nvSpPr>
        <p:spPr>
          <a:xfrm>
            <a:off x="1257300" y="1591056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httpOnly Cookie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252728" y="2049399"/>
            <a:ext cx="2648966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védelem, kliensoldali JS nem fér hozzá a tokenhez, szerver validál minden kérésnél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617720" y="1325880"/>
            <a:ext cx="40233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E267CA8-75DB-9BB0-9B72-07F321441D92}"/>
              </a:ext>
            </a:extLst>
          </p:cNvPr>
          <p:cNvGrpSpPr/>
          <p:nvPr/>
        </p:nvGrpSpPr>
        <p:grpSpPr>
          <a:xfrm>
            <a:off x="4800600" y="1527048"/>
            <a:ext cx="594360" cy="594360"/>
            <a:chOff x="4800600" y="1527048"/>
            <a:chExt cx="594360" cy="594360"/>
          </a:xfrm>
        </p:grpSpPr>
        <p:sp>
          <p:nvSpPr>
            <p:cNvPr id="10" name="Shape 7"/>
            <p:cNvSpPr/>
            <p:nvPr/>
          </p:nvSpPr>
          <p:spPr>
            <a:xfrm>
              <a:off x="4800600" y="1527048"/>
              <a:ext cx="594360" cy="594360"/>
            </a:xfrm>
            <a:prstGeom prst="ellipse">
              <a:avLst/>
            </a:prstGeom>
            <a:solidFill>
              <a:srgbClr val="EEF2F8"/>
            </a:solidFill>
            <a:ln/>
          </p:spPr>
          <p:txBody>
            <a:bodyPr/>
            <a:lstStyle/>
            <a:p>
              <a:endParaRPr lang="hu-HU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10328" y="1636776"/>
              <a:ext cx="365760" cy="365760"/>
            </a:xfrm>
            <a:prstGeom prst="rect">
              <a:avLst/>
            </a:prstGeom>
          </p:spPr>
        </p:pic>
      </p:grpSp>
      <p:sp>
        <p:nvSpPr>
          <p:cNvPr id="12" name="Text 8"/>
          <p:cNvSpPr/>
          <p:nvPr/>
        </p:nvSpPr>
        <p:spPr>
          <a:xfrm>
            <a:off x="5504688" y="1591056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pgcrypto PGP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504688" y="2068830"/>
            <a:ext cx="2619756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Érzékeny dokumentumok titkosítva tárolva, GDPR-kompatibilis adatkezelés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365760" y="3291840"/>
            <a:ext cx="40233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EF0361B-864D-30E3-2CDC-EB58A4242A06}"/>
              </a:ext>
            </a:extLst>
          </p:cNvPr>
          <p:cNvGrpSpPr/>
          <p:nvPr/>
        </p:nvGrpSpPr>
        <p:grpSpPr>
          <a:xfrm>
            <a:off x="548640" y="3493008"/>
            <a:ext cx="594360" cy="594360"/>
            <a:chOff x="548640" y="3493008"/>
            <a:chExt cx="594360" cy="594360"/>
          </a:xfrm>
        </p:grpSpPr>
        <p:sp>
          <p:nvSpPr>
            <p:cNvPr id="15" name="Shape 11"/>
            <p:cNvSpPr/>
            <p:nvPr/>
          </p:nvSpPr>
          <p:spPr>
            <a:xfrm>
              <a:off x="548640" y="3493008"/>
              <a:ext cx="594360" cy="594360"/>
            </a:xfrm>
            <a:prstGeom prst="ellipse">
              <a:avLst/>
            </a:prstGeom>
            <a:solidFill>
              <a:srgbClr val="EEF2F8"/>
            </a:solidFill>
            <a:ln/>
          </p:spPr>
          <p:txBody>
            <a:bodyPr/>
            <a:lstStyle/>
            <a:p>
              <a:endParaRPr lang="hu-HU"/>
            </a:p>
          </p:txBody>
        </p:sp>
        <p:pic>
          <p:nvPicPr>
            <p:cNvPr id="16" name="Image 2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58368" y="3602736"/>
              <a:ext cx="365760" cy="365760"/>
            </a:xfrm>
            <a:prstGeom prst="rect">
              <a:avLst/>
            </a:prstGeom>
          </p:spPr>
        </p:pic>
      </p:grpSp>
      <p:sp>
        <p:nvSpPr>
          <p:cNvPr id="17" name="Text 12"/>
          <p:cNvSpPr/>
          <p:nvPr/>
        </p:nvSpPr>
        <p:spPr>
          <a:xfrm>
            <a:off x="1257300" y="3557016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 validáció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257300" y="402793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Kliens- és szerver oldalon – hibás adat az üzleti logikáig sem jut el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617720" y="3291840"/>
            <a:ext cx="40233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CDAC094-98E5-28DE-7EDD-9AA2C029CE8E}"/>
              </a:ext>
            </a:extLst>
          </p:cNvPr>
          <p:cNvGrpSpPr/>
          <p:nvPr/>
        </p:nvGrpSpPr>
        <p:grpSpPr>
          <a:xfrm>
            <a:off x="4800600" y="3493008"/>
            <a:ext cx="594360" cy="594360"/>
            <a:chOff x="4800600" y="3493008"/>
            <a:chExt cx="594360" cy="594360"/>
          </a:xfrm>
        </p:grpSpPr>
        <p:sp>
          <p:nvSpPr>
            <p:cNvPr id="20" name="Shape 15"/>
            <p:cNvSpPr/>
            <p:nvPr/>
          </p:nvSpPr>
          <p:spPr>
            <a:xfrm>
              <a:off x="4800600" y="3493008"/>
              <a:ext cx="594360" cy="594360"/>
            </a:xfrm>
            <a:prstGeom prst="ellipse">
              <a:avLst/>
            </a:prstGeom>
            <a:solidFill>
              <a:srgbClr val="EEF2F8"/>
            </a:solidFill>
            <a:ln/>
          </p:spPr>
          <p:txBody>
            <a:bodyPr/>
            <a:lstStyle/>
            <a:p>
              <a:endParaRPr lang="hu-HU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910328" y="3602736"/>
              <a:ext cx="365760" cy="365760"/>
            </a:xfrm>
            <a:prstGeom prst="rect">
              <a:avLst/>
            </a:prstGeom>
          </p:spPr>
        </p:pic>
      </p:grpSp>
      <p:sp>
        <p:nvSpPr>
          <p:cNvPr id="22" name="Text 16"/>
          <p:cNvSpPr/>
          <p:nvPr/>
        </p:nvSpPr>
        <p:spPr>
          <a:xfrm>
            <a:off x="5504688" y="3557016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Route Guard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5504688" y="4027932"/>
            <a:ext cx="26644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user/company/guest módok, rossz URL-en automatikus átirányítás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3730A3">
              <a:alpha val="20000"/>
            </a:srgbClr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6400800" y="2286000"/>
            <a:ext cx="4572000" cy="4572000"/>
          </a:xfrm>
          <a:prstGeom prst="ellipse">
            <a:avLst/>
          </a:prstGeom>
          <a:solidFill>
            <a:srgbClr val="7E22CE">
              <a:alpha val="20000"/>
            </a:srgbClr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3337560" y="256032"/>
            <a:ext cx="2468880" cy="347472"/>
          </a:xfrm>
          <a:prstGeom prst="roundRect">
            <a:avLst>
              <a:gd name="adj" fmla="val 13158"/>
            </a:avLst>
          </a:prstGeom>
          <a:solidFill>
            <a:srgbClr val="4338CA">
              <a:alpha val="50000"/>
            </a:srgbClr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3337560" y="2560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A5B4FC"/>
                </a:solidFill>
              </a:rPr>
              <a:t>AI · NLP · KERESŐMOTOR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31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OrionAI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mikroszolgáltatás · Többnyelvű NLP keresőmotor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920240" cy="1188720"/>
          </a:xfrm>
          <a:prstGeom prst="rect">
            <a:avLst/>
          </a:prstGeom>
          <a:solidFill>
            <a:srgbClr val="6366F1">
              <a:alpha val="70000"/>
            </a:srgbClr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457200" y="21488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Természetes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nyelvű keresés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395728" y="246888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5B4FC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606040" y="2148840"/>
            <a:ext cx="1920240" cy="1188720"/>
          </a:xfrm>
          <a:prstGeom prst="rect">
            <a:avLst/>
          </a:prstGeom>
          <a:solidFill>
            <a:srgbClr val="7C3AED">
              <a:alpha val="70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2606040" y="21488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Normalizálás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&amp; stemming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44568" y="246888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5B4FC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754880" y="2148840"/>
            <a:ext cx="1920240" cy="1188720"/>
          </a:xfrm>
          <a:prstGeom prst="rect">
            <a:avLst/>
          </a:prstGeom>
          <a:solidFill>
            <a:srgbClr val="9333EA">
              <a:alpha val="70000"/>
            </a:srgbClr>
          </a:solidFill>
          <a:ln w="127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Text 13"/>
          <p:cNvSpPr/>
          <p:nvPr/>
        </p:nvSpPr>
        <p:spPr>
          <a:xfrm>
            <a:off x="4754880" y="21488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Cosine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similarity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93408" y="246888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5B4FC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903720" y="2148840"/>
            <a:ext cx="1920240" cy="1188720"/>
          </a:xfrm>
          <a:prstGeom prst="rect">
            <a:avLst/>
          </a:prstGeom>
          <a:solidFill>
            <a:srgbClr val="A855F7">
              <a:alpha val="70000"/>
            </a:srgbClr>
          </a:solidFill>
          <a:ln w="127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6903720" y="21488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Top 10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találat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5844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7C72A3"/>
                </a:solidFill>
              </a:rPr>
              <a:t>SÚLYOZOTT SCORING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371600" y="4005072"/>
            <a:ext cx="1920240" cy="621792"/>
          </a:xfrm>
          <a:prstGeom prst="rect">
            <a:avLst/>
          </a:prstGeom>
          <a:solidFill>
            <a:srgbClr val="6366F1">
              <a:alpha val="75000"/>
            </a:srgbClr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1371600" y="4005072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u-HU" sz="2200" b="1" dirty="0">
                <a:solidFill>
                  <a:srgbClr val="FFFFFF"/>
                </a:solidFill>
              </a:rPr>
              <a:t>80</a:t>
            </a:r>
            <a:r>
              <a:rPr lang="en-US" sz="2200" b="1" dirty="0">
                <a:solidFill>
                  <a:srgbClr val="FFFFFF"/>
                </a:solidFill>
              </a:rPr>
              <a:t>%</a:t>
            </a:r>
            <a:endParaRPr lang="en-US" sz="22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4B5FD"/>
                </a:solidFill>
              </a:rPr>
              <a:t>Szöveges egyezés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657600" y="4005072"/>
            <a:ext cx="1920240" cy="621792"/>
          </a:xfrm>
          <a:prstGeom prst="rect">
            <a:avLst/>
          </a:prstGeom>
          <a:solidFill>
            <a:srgbClr val="8B5CF6">
              <a:alpha val="75000"/>
            </a:srgbClr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3" name="Text 21"/>
          <p:cNvSpPr/>
          <p:nvPr/>
        </p:nvSpPr>
        <p:spPr>
          <a:xfrm>
            <a:off x="3657600" y="4005072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hu-HU" sz="2200" b="1" dirty="0">
                <a:solidFill>
                  <a:srgbClr val="FFFFFF"/>
                </a:solidFill>
              </a:rPr>
              <a:t>5</a:t>
            </a:r>
            <a:r>
              <a:rPr lang="en-US" sz="2200" b="1" dirty="0">
                <a:solidFill>
                  <a:srgbClr val="FFFFFF"/>
                </a:solidFill>
              </a:rPr>
              <a:t>%</a:t>
            </a:r>
            <a:endParaRPr lang="en-US" sz="22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4B5FD"/>
                </a:solidFill>
              </a:rPr>
              <a:t>Bér egyezés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5943600" y="4005072"/>
            <a:ext cx="1920240" cy="621792"/>
          </a:xfrm>
          <a:prstGeom prst="rect">
            <a:avLst/>
          </a:prstGeom>
          <a:solidFill>
            <a:srgbClr val="A855F7">
              <a:alpha val="75000"/>
            </a:srgbClr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5" name="Text 23"/>
          <p:cNvSpPr/>
          <p:nvPr/>
        </p:nvSpPr>
        <p:spPr>
          <a:xfrm>
            <a:off x="5943600" y="4005072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15%</a:t>
            </a:r>
            <a:endParaRPr lang="en-US" sz="22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4B5FD"/>
                </a:solidFill>
              </a:rPr>
              <a:t>Helyszín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Realtime Chat: OrionMessenger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WebSocket-alapú valós idejű üzenetküldő rendszer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04672" y="1874520"/>
            <a:ext cx="36576" cy="256032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548640" y="1389888"/>
            <a:ext cx="530352" cy="530352"/>
          </a:xfrm>
          <a:prstGeom prst="ellipse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548640" y="13898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280160" y="1371600"/>
            <a:ext cx="74066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1463040" y="1371600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Üzenet mentése  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/api/messages → adatbázisba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4672" y="2606040"/>
            <a:ext cx="36576" cy="256032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0" name="Shape 8"/>
          <p:cNvSpPr/>
          <p:nvPr/>
        </p:nvSpPr>
        <p:spPr>
          <a:xfrm>
            <a:off x="548640" y="2121408"/>
            <a:ext cx="530352" cy="530352"/>
          </a:xfrm>
          <a:prstGeom prst="ellipse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1" name="Text 9"/>
          <p:cNvSpPr/>
          <p:nvPr/>
        </p:nvSpPr>
        <p:spPr>
          <a:xfrm>
            <a:off x="548640" y="21214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280160" y="2103120"/>
            <a:ext cx="74066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1463040" y="2103120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</a:t>
            </a:r>
            <a:r>
              <a:rPr lang="hu-HU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fireing </a:t>
            </a:r>
            <a:r>
              <a:rPr lang="en-US" sz="13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postgres_changes event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" y="3337560"/>
            <a:ext cx="36576" cy="256032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5" name="Shape 13"/>
          <p:cNvSpPr/>
          <p:nvPr/>
        </p:nvSpPr>
        <p:spPr>
          <a:xfrm>
            <a:off x="548640" y="2852928"/>
            <a:ext cx="530352" cy="530352"/>
          </a:xfrm>
          <a:prstGeom prst="ellipse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548640" y="28529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280160" y="2834640"/>
            <a:ext cx="74066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1463040" y="2834640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elfogás  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RealtimeServer elkapja az INSERT-et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" y="4069080"/>
            <a:ext cx="36576" cy="256032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0" name="Shape 18"/>
          <p:cNvSpPr/>
          <p:nvPr/>
        </p:nvSpPr>
        <p:spPr>
          <a:xfrm>
            <a:off x="548640" y="3584448"/>
            <a:ext cx="530352" cy="530352"/>
          </a:xfrm>
          <a:prstGeom prst="ellipse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548640" y="35844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280160" y="3566160"/>
            <a:ext cx="74066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Text 21"/>
          <p:cNvSpPr/>
          <p:nvPr/>
        </p:nvSpPr>
        <p:spPr>
          <a:xfrm>
            <a:off x="1463040" y="3566160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broadcast  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Üzenet küldése a klienseknek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15968"/>
            <a:ext cx="530352" cy="530352"/>
          </a:xfrm>
          <a:prstGeom prst="ellipse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5" name="Text 23"/>
          <p:cNvSpPr/>
          <p:nvPr/>
        </p:nvSpPr>
        <p:spPr>
          <a:xfrm>
            <a:off x="548640" y="431596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280160" y="4297680"/>
            <a:ext cx="74066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7" name="Text 25"/>
          <p:cNvSpPr/>
          <p:nvPr/>
        </p:nvSpPr>
        <p:spPr>
          <a:xfrm>
            <a:off x="1463040" y="4297680"/>
            <a:ext cx="7040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 UI  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Azonnali megjelenítés, hiba esetén rollback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React 19, Vite és TypeScript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960120"/>
            <a:ext cx="2560320" cy="3886200"/>
          </a:xfrm>
          <a:prstGeom prst="rect">
            <a:avLst/>
          </a:prstGeom>
          <a:solidFill>
            <a:srgbClr val="1E3D6F"/>
          </a:solidFill>
          <a:ln/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~25 000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dirty="0">
                <a:solidFill>
                  <a:srgbClr val="A8C4E8"/>
                </a:solidFill>
                <a:ea typeface="Calibri"/>
                <a:cs typeface="Calibri"/>
              </a:rPr>
              <a:t>Sor </a:t>
            </a:r>
            <a:r>
              <a:rPr lang="en-US" sz="1300" dirty="0" err="1">
                <a:solidFill>
                  <a:srgbClr val="A8C4E8"/>
                </a:solidFill>
                <a:ea typeface="Calibri"/>
                <a:cs typeface="Calibri"/>
              </a:rPr>
              <a:t>Kód</a:t>
            </a:r>
          </a:p>
        </p:txBody>
      </p:sp>
      <p:sp>
        <p:nvSpPr>
          <p:cNvPr id="6" name="Text 4"/>
          <p:cNvSpPr/>
          <p:nvPr/>
        </p:nvSpPr>
        <p:spPr>
          <a:xfrm>
            <a:off x="502920" y="278892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A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statikus típusbiztonság · korai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FA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hibadetektálás · könnyű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FA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refaktorálás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960120"/>
            <a:ext cx="5486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3200400" y="960120"/>
            <a:ext cx="54864" cy="822960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3383280" y="1024128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Komponens-alapú UI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83280" y="1371600"/>
            <a:ext cx="5166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HMR azonnali változáskövetéssel fejlesztés közben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00400" y="1947672"/>
            <a:ext cx="5486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Shape 10"/>
          <p:cNvSpPr/>
          <p:nvPr/>
        </p:nvSpPr>
        <p:spPr>
          <a:xfrm>
            <a:off x="3200400" y="1947672"/>
            <a:ext cx="54864" cy="822960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3383280" y="20116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Állapotkezelés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83280" y="2359152"/>
            <a:ext cx="5166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API + Custom Hooks – Redux </a:t>
            </a:r>
            <a:r>
              <a:rPr lang="en-US" sz="11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felesleges</a:t>
            </a: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overhead </a:t>
            </a:r>
            <a:r>
              <a:rPr lang="en-US" sz="115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nélkül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00400" y="2935224"/>
            <a:ext cx="5486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6" name="Shape 14"/>
          <p:cNvSpPr/>
          <p:nvPr/>
        </p:nvSpPr>
        <p:spPr>
          <a:xfrm>
            <a:off x="3200400" y="2935224"/>
            <a:ext cx="54864" cy="822960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7" name="Text 15"/>
          <p:cNvSpPr/>
          <p:nvPr/>
        </p:nvSpPr>
        <p:spPr>
          <a:xfrm>
            <a:off x="3383280" y="2999232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Glassmorphism UI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83280" y="3346704"/>
            <a:ext cx="5166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CSS + Framer Motion: kártya-animációk, ATS kanban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200400" y="3922776"/>
            <a:ext cx="54864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0" name="Shape 18"/>
          <p:cNvSpPr/>
          <p:nvPr/>
        </p:nvSpPr>
        <p:spPr>
          <a:xfrm>
            <a:off x="3200400" y="3922776"/>
            <a:ext cx="54864" cy="822960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3383280" y="3986784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i18n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83280" y="4334256"/>
            <a:ext cx="5166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react-i18next többnyelvű platform-támogatás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D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1371600"/>
            <a:ext cx="4572000" cy="4572000"/>
          </a:xfrm>
          <a:prstGeom prst="ellipse">
            <a:avLst/>
          </a:prstGeom>
          <a:solidFill>
            <a:srgbClr val="3A5F9E">
              <a:alpha val="20000"/>
            </a:srgbClr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5943600" y="2743200"/>
            <a:ext cx="4572000" cy="4572000"/>
          </a:xfrm>
          <a:prstGeom prst="ellipse">
            <a:avLst/>
          </a:prstGeom>
          <a:solidFill>
            <a:srgbClr val="0F766E">
              <a:alpha val="18000"/>
            </a:srgbClr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54864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Infrastruktúra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Hetzner Linux szerver · 3 Docker konténer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3931920" cy="3291840"/>
          </a:xfrm>
          <a:prstGeom prst="rect">
            <a:avLst/>
          </a:prstGeom>
          <a:solidFill>
            <a:srgbClr val="162E52"/>
          </a:solidFill>
          <a:ln w="12700">
            <a:solidFill>
              <a:srgbClr val="2A4A78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200" dirty="0">
                <a:solidFill>
                  <a:srgbClr val="7FA8D0"/>
                </a:solidFill>
              </a:rPr>
              <a:t>HETZNER SZERVER</a:t>
            </a:r>
            <a:endParaRPr lang="en-US" sz="10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7152" y="1709518"/>
            <a:ext cx="502920" cy="5029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94360" y="2329375"/>
            <a:ext cx="36576" cy="274320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0" name="Text 7"/>
          <p:cNvSpPr/>
          <p:nvPr/>
        </p:nvSpPr>
        <p:spPr>
          <a:xfrm>
            <a:off x="731520" y="2329375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Linux-alapú dedikált szerver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94360" y="2713423"/>
            <a:ext cx="36576" cy="274320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2" name="Text 9"/>
          <p:cNvSpPr/>
          <p:nvPr/>
        </p:nvSpPr>
        <p:spPr>
          <a:xfrm>
            <a:off x="731520" y="2713423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reverse proxy (terminálás, rate limiting)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4360" y="3097471"/>
            <a:ext cx="36576" cy="274320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4" name="Text 11"/>
          <p:cNvSpPr/>
          <p:nvPr/>
        </p:nvSpPr>
        <p:spPr>
          <a:xfrm>
            <a:off x="731520" y="3097471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SSL/TLS tanúsítványkezelés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94360" y="3481519"/>
            <a:ext cx="36576" cy="274320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6" name="Text 13"/>
          <p:cNvSpPr/>
          <p:nvPr/>
        </p:nvSpPr>
        <p:spPr>
          <a:xfrm>
            <a:off x="731520" y="3481519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Tűzfal + SSH kulcsos hozzáférés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94360" y="3865567"/>
            <a:ext cx="36576" cy="274320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8" name="Text 15"/>
          <p:cNvSpPr/>
          <p:nvPr/>
        </p:nvSpPr>
        <p:spPr>
          <a:xfrm>
            <a:off x="731520" y="3865567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Automatikus biztonsági mentések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94360" y="4249615"/>
            <a:ext cx="36576" cy="274320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0" name="Text 17"/>
          <p:cNvSpPr/>
          <p:nvPr/>
        </p:nvSpPr>
        <p:spPr>
          <a:xfrm>
            <a:off x="731520" y="4249615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GDPR-kompatibilis EU hosting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617720" y="1371600"/>
            <a:ext cx="4114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2" name="Text 19"/>
          <p:cNvSpPr/>
          <p:nvPr/>
        </p:nvSpPr>
        <p:spPr>
          <a:xfrm>
            <a:off x="4617720" y="137160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200" dirty="0">
                <a:solidFill>
                  <a:srgbClr val="64748B"/>
                </a:solidFill>
              </a:rPr>
              <a:t>DOCKER KONTÉNEREK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754880" y="1920240"/>
            <a:ext cx="3840480" cy="713232"/>
          </a:xfrm>
          <a:prstGeom prst="rect">
            <a:avLst/>
          </a:prstGeom>
          <a:solidFill>
            <a:srgbClr val="EEF2F8">
              <a:alpha val="60000"/>
            </a:srgbClr>
          </a:solidFill>
          <a:ln w="12700">
            <a:solidFill>
              <a:srgbClr val="2C5AA0"/>
            </a:solidFill>
            <a:prstDash val="solid"/>
          </a:ln>
          <a:effectLst>
            <a:outerShdw blurRad="50800" dist="12700" dir="108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048256"/>
            <a:ext cx="438912" cy="438912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440680" y="19659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5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API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5440680" y="226771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· REST végpontok · JWT auth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4754880" y="2788920"/>
            <a:ext cx="3840480" cy="713232"/>
          </a:xfrm>
          <a:prstGeom prst="rect">
            <a:avLst/>
          </a:prstGeom>
          <a:solidFill>
            <a:srgbClr val="EDE9FE">
              <a:alpha val="60000"/>
            </a:srgbClr>
          </a:solidFill>
          <a:ln w="12700">
            <a:solidFill>
              <a:srgbClr val="6D28D9"/>
            </a:solidFill>
            <a:prstDash val="solid"/>
          </a:ln>
          <a:effectLst>
            <a:outerShdw blurRad="50800" dist="12700" dir="108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2916936"/>
            <a:ext cx="438912" cy="438912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5440680" y="28346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OrionAI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5440680" y="313639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· NLP keresőmotor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4754880" y="3657600"/>
            <a:ext cx="3840480" cy="713232"/>
          </a:xfrm>
          <a:prstGeom prst="rect">
            <a:avLst/>
          </a:prstGeom>
          <a:solidFill>
            <a:srgbClr val="D1FAE5">
              <a:alpha val="60000"/>
            </a:srgbClr>
          </a:solidFill>
          <a:ln w="12700">
            <a:solidFill>
              <a:srgbClr val="0F766E"/>
            </a:solidFill>
            <a:prstDash val="solid"/>
          </a:ln>
          <a:effectLst>
            <a:outerShdw blurRad="50800" dist="12700" dir="108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3785616"/>
            <a:ext cx="438912" cy="43891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5440680" y="37033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1300" dirty="0"/>
          </a:p>
        </p:txBody>
      </p:sp>
      <p:sp>
        <p:nvSpPr>
          <p:cNvPr id="34" name="Text 28"/>
          <p:cNvSpPr/>
          <p:nvPr/>
        </p:nvSpPr>
        <p:spPr>
          <a:xfrm>
            <a:off x="5440680" y="40050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proxy · SSL · statikus fájlok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Tesztelés és Teljesítmény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1920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920240" cy="54864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Egység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14600" y="1005840"/>
            <a:ext cx="1920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2514600" y="1005840"/>
            <a:ext cx="1920240" cy="54864"/>
          </a:xfrm>
          <a:prstGeom prst="rect">
            <a:avLst/>
          </a:prstGeom>
          <a:solidFill>
            <a:srgbClr val="065F4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2514600" y="11155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Komponens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+ Vitest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1920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1920240" cy="54864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4663440" y="11155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Integrációs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6344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MSW</a:t>
            </a:r>
            <a:r>
              <a:rPr lang="hu-HU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Postman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12280" y="1005840"/>
            <a:ext cx="1920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6" name="Shape 14"/>
          <p:cNvSpPr/>
          <p:nvPr/>
        </p:nvSpPr>
        <p:spPr>
          <a:xfrm>
            <a:off x="6812280" y="1005840"/>
            <a:ext cx="1920240" cy="54864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7" name="Text 15"/>
          <p:cNvSpPr/>
          <p:nvPr/>
        </p:nvSpPr>
        <p:spPr>
          <a:xfrm>
            <a:off x="6812280" y="11155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1228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25146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 AUDIT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07792"/>
            <a:ext cx="1920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365760" y="29443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365760" y="3520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514600" y="2907792"/>
            <a:ext cx="1920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4" name="Text 22"/>
          <p:cNvSpPr/>
          <p:nvPr/>
        </p:nvSpPr>
        <p:spPr>
          <a:xfrm>
            <a:off x="2514600" y="29443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2514600" y="3520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63440" y="2907792"/>
            <a:ext cx="1920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7" name="Text 25"/>
          <p:cNvSpPr/>
          <p:nvPr/>
        </p:nvSpPr>
        <p:spPr>
          <a:xfrm>
            <a:off x="4663440" y="29443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4663440" y="3520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812280" y="2907792"/>
            <a:ext cx="19202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0" name="Text 28"/>
          <p:cNvSpPr/>
          <p:nvPr/>
        </p:nvSpPr>
        <p:spPr>
          <a:xfrm>
            <a:off x="6812280" y="29443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B45309"/>
                </a:solidFill>
                <a:latin typeface="Calibri"/>
                <a:ea typeface="Calibri"/>
                <a:cs typeface="Calibri"/>
              </a:rPr>
              <a:t>85%</a:t>
            </a:r>
            <a:endParaRPr lang="en-US" sz="3000" dirty="0">
              <a:latin typeface="Calibri"/>
              <a:ea typeface="Calibri"/>
              <a:cs typeface="Calibri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812280" y="3520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187952"/>
            <a:ext cx="8412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33" name="Text 31"/>
          <p:cNvSpPr/>
          <p:nvPr/>
        </p:nvSpPr>
        <p:spPr>
          <a:xfrm>
            <a:off x="365760" y="4187952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FCP: 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1.3s  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TBT: </a:t>
            </a: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0ms  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CLS: </a:t>
            </a: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0.058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Fejlesztési Folyamat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Csapat · Eszközök · Együttműködés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325880"/>
            <a:ext cx="40690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4069080" cy="64008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594360" y="14630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Perczel Péter Géza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1920240"/>
            <a:ext cx="2011680" cy="292608"/>
          </a:xfrm>
          <a:prstGeom prst="roundRect">
            <a:avLst>
              <a:gd name="adj" fmla="val 12500"/>
            </a:avLst>
          </a:prstGeom>
          <a:solidFill>
            <a:srgbClr val="2C5AA0">
              <a:alpha val="15000"/>
            </a:srgbClr>
          </a:solidFill>
          <a:ln w="12700">
            <a:solidFill>
              <a:srgbClr val="2C5AA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2C5AA0"/>
                </a:solidFill>
              </a:rPr>
              <a:t>BACKEND &amp; ADATBÁZIS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12648" y="2395728"/>
            <a:ext cx="109728" cy="109728"/>
          </a:xfrm>
          <a:prstGeom prst="ellipse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0" name="Text 8"/>
          <p:cNvSpPr/>
          <p:nvPr/>
        </p:nvSpPr>
        <p:spPr>
          <a:xfrm>
            <a:off x="804672" y="2281769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API végpontok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" y="2852928"/>
            <a:ext cx="109728" cy="109728"/>
          </a:xfrm>
          <a:prstGeom prst="ellipse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/>
          <p:nvPr/>
        </p:nvSpPr>
        <p:spPr>
          <a:xfrm>
            <a:off x="804672" y="272491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(táblák, RPC-k, triggerek)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" y="3310128"/>
            <a:ext cx="109728" cy="109728"/>
          </a:xfrm>
          <a:prstGeom prst="ellipse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4" name="Text 12"/>
          <p:cNvSpPr/>
          <p:nvPr/>
        </p:nvSpPr>
        <p:spPr>
          <a:xfrm>
            <a:off x="804672" y="3189277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hitelesítés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" y="3767328"/>
            <a:ext cx="109728" cy="109728"/>
          </a:xfrm>
          <a:prstGeom prst="ellipse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6" name="Text 14"/>
          <p:cNvSpPr/>
          <p:nvPr/>
        </p:nvSpPr>
        <p:spPr>
          <a:xfrm>
            <a:off x="804672" y="3634945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integráció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" y="4224528"/>
            <a:ext cx="109728" cy="109728"/>
          </a:xfrm>
          <a:prstGeom prst="ellipse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8" name="Text 16"/>
          <p:cNvSpPr/>
          <p:nvPr/>
        </p:nvSpPr>
        <p:spPr>
          <a:xfrm>
            <a:off x="804672" y="409651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OrionAI összekötés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1325880"/>
            <a:ext cx="40690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0" name="Shape 18"/>
          <p:cNvSpPr/>
          <p:nvPr/>
        </p:nvSpPr>
        <p:spPr>
          <a:xfrm>
            <a:off x="4709160" y="1325880"/>
            <a:ext cx="4069080" cy="64008"/>
          </a:xfrm>
          <a:prstGeom prst="rect">
            <a:avLst/>
          </a:prstGeom>
          <a:solidFill>
            <a:srgbClr val="065F4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1" name="Text 19"/>
          <p:cNvSpPr/>
          <p:nvPr/>
        </p:nvSpPr>
        <p:spPr>
          <a:xfrm>
            <a:off x="4892040" y="14630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Stieber Domonkos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892040" y="1920240"/>
            <a:ext cx="2011680" cy="292608"/>
          </a:xfrm>
          <a:prstGeom prst="roundRect">
            <a:avLst>
              <a:gd name="adj" fmla="val 12500"/>
            </a:avLst>
          </a:prstGeom>
          <a:solidFill>
            <a:srgbClr val="065F46">
              <a:alpha val="15000"/>
            </a:srgbClr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Text 21"/>
          <p:cNvSpPr/>
          <p:nvPr/>
        </p:nvSpPr>
        <p:spPr>
          <a:xfrm>
            <a:off x="4892040" y="19202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065F46"/>
                </a:solidFill>
              </a:rPr>
              <a:t>FRONTEND FEJLESZTÉS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910328" y="2395728"/>
            <a:ext cx="109728" cy="109728"/>
          </a:xfrm>
          <a:prstGeom prst="ellipse">
            <a:avLst/>
          </a:prstGeom>
          <a:solidFill>
            <a:srgbClr val="065F4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5" name="Text 23"/>
          <p:cNvSpPr/>
          <p:nvPr/>
        </p:nvSpPr>
        <p:spPr>
          <a:xfrm>
            <a:off x="5102352" y="2274809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komponensek &amp; routing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910328" y="2852928"/>
            <a:ext cx="109728" cy="109728"/>
          </a:xfrm>
          <a:prstGeom prst="ellipse">
            <a:avLst/>
          </a:prstGeom>
          <a:solidFill>
            <a:srgbClr val="065F4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7" name="Text 25"/>
          <p:cNvSpPr/>
          <p:nvPr/>
        </p:nvSpPr>
        <p:spPr>
          <a:xfrm>
            <a:off x="5102352" y="272491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Guard rendszer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910328" y="3310128"/>
            <a:ext cx="109728" cy="109728"/>
          </a:xfrm>
          <a:prstGeom prst="ellipse">
            <a:avLst/>
          </a:prstGeom>
          <a:solidFill>
            <a:srgbClr val="065F4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9" name="Text 27"/>
          <p:cNvSpPr/>
          <p:nvPr/>
        </p:nvSpPr>
        <p:spPr>
          <a:xfrm>
            <a:off x="5102352" y="3189277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CSS + Framer Motion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910328" y="3767328"/>
            <a:ext cx="109728" cy="109728"/>
          </a:xfrm>
          <a:prstGeom prst="ellipse">
            <a:avLst/>
          </a:prstGeom>
          <a:solidFill>
            <a:srgbClr val="065F4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31" name="Text 29"/>
          <p:cNvSpPr/>
          <p:nvPr/>
        </p:nvSpPr>
        <p:spPr>
          <a:xfrm>
            <a:off x="5102352" y="363521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Űrlapkezelés (RHF + Zod)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910328" y="4224528"/>
            <a:ext cx="109728" cy="109728"/>
          </a:xfrm>
          <a:prstGeom prst="ellipse">
            <a:avLst/>
          </a:prstGeom>
          <a:solidFill>
            <a:srgbClr val="065F4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33" name="Text 31"/>
          <p:cNvSpPr/>
          <p:nvPr/>
        </p:nvSpPr>
        <p:spPr>
          <a:xfrm>
            <a:off x="5102352" y="409508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Animációk &amp; reszponzív UI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745736"/>
            <a:ext cx="2194560" cy="274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5" name="Text 33"/>
          <p:cNvSpPr/>
          <p:nvPr/>
        </p:nvSpPr>
        <p:spPr>
          <a:xfrm>
            <a:off x="548640" y="47365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C5AA0"/>
                </a:solidFill>
              </a:rPr>
              <a:t>Trello</a:t>
            </a:r>
            <a:r>
              <a:rPr lang="en-US" sz="1100" dirty="0">
                <a:solidFill>
                  <a:srgbClr val="64748B"/>
                </a:solidFill>
              </a:rPr>
              <a:t>  Feladatkezelés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566162" y="4745736"/>
            <a:ext cx="2194560" cy="274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7" name="Text 35"/>
          <p:cNvSpPr/>
          <p:nvPr/>
        </p:nvSpPr>
        <p:spPr>
          <a:xfrm>
            <a:off x="3566162" y="4745463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C5AA0"/>
                </a:solidFill>
              </a:rPr>
              <a:t>Discord</a:t>
            </a:r>
            <a:r>
              <a:rPr lang="en-US" sz="1100" dirty="0">
                <a:solidFill>
                  <a:srgbClr val="64748B"/>
                </a:solidFill>
              </a:rPr>
              <a:t>  Kommunikáció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46520" y="4745736"/>
            <a:ext cx="2194560" cy="274320"/>
          </a:xfrm>
          <a:prstGeom prst="rect">
            <a:avLst/>
          </a:prstGeom>
          <a:solidFill>
            <a:srgbClr val="EEF2F8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9" name="Text 37"/>
          <p:cNvSpPr/>
          <p:nvPr/>
        </p:nvSpPr>
        <p:spPr>
          <a:xfrm>
            <a:off x="6451297" y="4752627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C5AA0"/>
                </a:solidFill>
              </a:rPr>
              <a:t>GitHub</a:t>
            </a:r>
            <a:r>
              <a:rPr lang="en-US" sz="1100" dirty="0">
                <a:solidFill>
                  <a:srgbClr val="64748B"/>
                </a:solidFill>
              </a:rPr>
              <a:t>  Verziókezelés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D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6661" y="385413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Fejlesztési Ütemterv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321040" cy="73152"/>
          </a:xfrm>
          <a:prstGeom prst="rect">
            <a:avLst/>
          </a:prstGeom>
          <a:solidFill>
            <a:srgbClr val="2A4A78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1019556" y="1316736"/>
            <a:ext cx="201168" cy="201168"/>
          </a:xfrm>
          <a:prstGeom prst="ellipse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1325880" cy="3063240"/>
          </a:xfrm>
          <a:prstGeom prst="rect">
            <a:avLst/>
          </a:prstGeom>
          <a:solidFill>
            <a:srgbClr val="162E52"/>
          </a:solidFill>
          <a:ln w="12700">
            <a:solidFill>
              <a:srgbClr val="2A4A7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1325880" cy="64008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8" name="Shape 6"/>
          <p:cNvSpPr/>
          <p:nvPr/>
        </p:nvSpPr>
        <p:spPr>
          <a:xfrm>
            <a:off x="868680" y="1783080"/>
            <a:ext cx="502920" cy="502920"/>
          </a:xfrm>
          <a:prstGeom prst="ellipse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/>
          <p:nvPr/>
        </p:nvSpPr>
        <p:spPr>
          <a:xfrm>
            <a:off x="86868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C5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1–2. hét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21208" y="2724912"/>
            <a:ext cx="120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Tervezés &amp; Architektúra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21208" y="3520440"/>
            <a:ext cx="12070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A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Adatmodell, tech stack, fejlesztői környezet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409444" y="1307592"/>
            <a:ext cx="201168" cy="201168"/>
          </a:xfrm>
          <a:prstGeom prst="ellipse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4" name="Shape 12"/>
          <p:cNvSpPr/>
          <p:nvPr/>
        </p:nvSpPr>
        <p:spPr>
          <a:xfrm>
            <a:off x="1847088" y="1691640"/>
            <a:ext cx="1325880" cy="3063240"/>
          </a:xfrm>
          <a:prstGeom prst="rect">
            <a:avLst/>
          </a:prstGeom>
          <a:solidFill>
            <a:srgbClr val="162E52"/>
          </a:solidFill>
          <a:ln w="12700">
            <a:solidFill>
              <a:srgbClr val="2A4A7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5" name="Shape 13"/>
          <p:cNvSpPr/>
          <p:nvPr/>
        </p:nvSpPr>
        <p:spPr>
          <a:xfrm>
            <a:off x="1847088" y="1691640"/>
            <a:ext cx="1325880" cy="64008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6" name="Shape 14"/>
          <p:cNvSpPr/>
          <p:nvPr/>
        </p:nvSpPr>
        <p:spPr>
          <a:xfrm>
            <a:off x="2258568" y="1783080"/>
            <a:ext cx="502920" cy="502920"/>
          </a:xfrm>
          <a:prstGeom prst="ellipse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7" name="Text 15"/>
          <p:cNvSpPr/>
          <p:nvPr/>
        </p:nvSpPr>
        <p:spPr>
          <a:xfrm>
            <a:off x="2258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847088" y="237744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3–9. hét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911096" y="2724912"/>
            <a:ext cx="120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Alaprendszer kiépítése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911096" y="3520440"/>
            <a:ext cx="12070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A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Adatbázis-séma, Express middleware, JWT, frontend váz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799332" y="1316736"/>
            <a:ext cx="201168" cy="201168"/>
          </a:xfrm>
          <a:prstGeom prst="ellipse">
            <a:avLst/>
          </a:prstGeom>
          <a:solidFill>
            <a:srgbClr val="065F4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2" name="Shape 20"/>
          <p:cNvSpPr/>
          <p:nvPr/>
        </p:nvSpPr>
        <p:spPr>
          <a:xfrm>
            <a:off x="3236976" y="1691640"/>
            <a:ext cx="1325880" cy="3063240"/>
          </a:xfrm>
          <a:prstGeom prst="rect">
            <a:avLst/>
          </a:prstGeom>
          <a:solidFill>
            <a:srgbClr val="162E52"/>
          </a:solidFill>
          <a:ln w="12700">
            <a:solidFill>
              <a:srgbClr val="2A4A7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23" name="Shape 21"/>
          <p:cNvSpPr/>
          <p:nvPr/>
        </p:nvSpPr>
        <p:spPr>
          <a:xfrm>
            <a:off x="3236976" y="1691640"/>
            <a:ext cx="1325880" cy="64008"/>
          </a:xfrm>
          <a:prstGeom prst="rect">
            <a:avLst/>
          </a:prstGeom>
          <a:solidFill>
            <a:srgbClr val="065F4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4" name="Shape 22"/>
          <p:cNvSpPr/>
          <p:nvPr/>
        </p:nvSpPr>
        <p:spPr>
          <a:xfrm>
            <a:off x="3648456" y="1783080"/>
            <a:ext cx="502920" cy="502920"/>
          </a:xfrm>
          <a:prstGeom prst="ellipse">
            <a:avLst/>
          </a:prstGeom>
          <a:solidFill>
            <a:srgbClr val="065F4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5" name="Text 23"/>
          <p:cNvSpPr/>
          <p:nvPr/>
        </p:nvSpPr>
        <p:spPr>
          <a:xfrm>
            <a:off x="3648456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236976" y="237744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9–17. hét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300984" y="2724912"/>
            <a:ext cx="120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Fő funkciók implementálása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300984" y="3520440"/>
            <a:ext cx="12070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A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Regisztráció, profil, álláshirdetés CRUD, ATS, dashboard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183079" y="1316736"/>
            <a:ext cx="201168" cy="201168"/>
          </a:xfrm>
          <a:prstGeom prst="ellipse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30" name="Shape 28"/>
          <p:cNvSpPr/>
          <p:nvPr/>
        </p:nvSpPr>
        <p:spPr>
          <a:xfrm>
            <a:off x="4626864" y="1691640"/>
            <a:ext cx="1325880" cy="3063240"/>
          </a:xfrm>
          <a:prstGeom prst="rect">
            <a:avLst/>
          </a:prstGeom>
          <a:solidFill>
            <a:srgbClr val="162E52"/>
          </a:solidFill>
          <a:ln w="12700">
            <a:solidFill>
              <a:srgbClr val="2A4A7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1" name="Shape 29"/>
          <p:cNvSpPr/>
          <p:nvPr/>
        </p:nvSpPr>
        <p:spPr>
          <a:xfrm>
            <a:off x="4626864" y="1691640"/>
            <a:ext cx="1325880" cy="64008"/>
          </a:xfrm>
          <a:prstGeom prst="rect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32" name="Shape 30"/>
          <p:cNvSpPr/>
          <p:nvPr/>
        </p:nvSpPr>
        <p:spPr>
          <a:xfrm>
            <a:off x="5038344" y="1783080"/>
            <a:ext cx="502920" cy="502920"/>
          </a:xfrm>
          <a:prstGeom prst="ellipse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33" name="Text 31"/>
          <p:cNvSpPr/>
          <p:nvPr/>
        </p:nvSpPr>
        <p:spPr>
          <a:xfrm>
            <a:off x="503834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4626864" y="237744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17–21. hét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690872" y="2724912"/>
            <a:ext cx="120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Kommunikáció &amp; Értesítések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690872" y="3520440"/>
            <a:ext cx="12070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A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OrionMessenger, WebSocket, email-értesítések (Nodemailer)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579108" y="1332840"/>
            <a:ext cx="201168" cy="201168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38" name="Shape 36"/>
          <p:cNvSpPr/>
          <p:nvPr/>
        </p:nvSpPr>
        <p:spPr>
          <a:xfrm>
            <a:off x="6016752" y="1691640"/>
            <a:ext cx="1325880" cy="3063240"/>
          </a:xfrm>
          <a:prstGeom prst="rect">
            <a:avLst/>
          </a:prstGeom>
          <a:solidFill>
            <a:srgbClr val="162E52"/>
          </a:solidFill>
          <a:ln w="12700">
            <a:solidFill>
              <a:srgbClr val="2A4A7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39" name="Shape 37"/>
          <p:cNvSpPr/>
          <p:nvPr/>
        </p:nvSpPr>
        <p:spPr>
          <a:xfrm>
            <a:off x="6016752" y="1691640"/>
            <a:ext cx="1325880" cy="64008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40" name="Shape 38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41" name="Text 39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016752" y="237744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21–26. hét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080760" y="2724912"/>
            <a:ext cx="120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Intelligens funkciók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080760" y="3520440"/>
            <a:ext cx="12070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A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OrionAI NLP, kedvencek, statisztikák, UI animációk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968996" y="1316736"/>
            <a:ext cx="201168" cy="201168"/>
          </a:xfrm>
          <a:prstGeom prst="ellipse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46" name="Shape 44"/>
          <p:cNvSpPr/>
          <p:nvPr/>
        </p:nvSpPr>
        <p:spPr>
          <a:xfrm>
            <a:off x="7406640" y="1691640"/>
            <a:ext cx="1325880" cy="3063240"/>
          </a:xfrm>
          <a:prstGeom prst="rect">
            <a:avLst/>
          </a:prstGeom>
          <a:solidFill>
            <a:srgbClr val="162E52"/>
          </a:solidFill>
          <a:ln w="12700">
            <a:solidFill>
              <a:srgbClr val="2A4A78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7" name="Shape 45"/>
          <p:cNvSpPr/>
          <p:nvPr/>
        </p:nvSpPr>
        <p:spPr>
          <a:xfrm>
            <a:off x="7406640" y="1691640"/>
            <a:ext cx="1325880" cy="6400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48" name="Shape 46"/>
          <p:cNvSpPr/>
          <p:nvPr/>
        </p:nvSpPr>
        <p:spPr>
          <a:xfrm>
            <a:off x="7818120" y="1783080"/>
            <a:ext cx="502920" cy="502920"/>
          </a:xfrm>
          <a:prstGeom prst="ellipse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49" name="Text 47"/>
          <p:cNvSpPr/>
          <p:nvPr/>
        </p:nvSpPr>
        <p:spPr>
          <a:xfrm>
            <a:off x="781812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7406640" y="237744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26–28. hét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470648" y="2724912"/>
            <a:ext cx="1207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Tesztelés &amp; Dokumentáció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7470648" y="3520440"/>
            <a:ext cx="12070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FA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Manuális tesztek, Lighthouse, hibajavítások, dokumentáció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Fejlesztési Munkafolyamat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Ciklikus, iteratív fejlesztési folyamat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26517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2651760" cy="54864"/>
          </a:xfrm>
          <a:prstGeom prst="rect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548640" y="1490472"/>
            <a:ext cx="530352" cy="530352"/>
          </a:xfrm>
          <a:prstGeom prst="ellipse">
            <a:avLst/>
          </a:prstGeom>
          <a:solidFill>
            <a:srgbClr val="2C5AA0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7" name="Text 5"/>
          <p:cNvSpPr/>
          <p:nvPr/>
        </p:nvSpPr>
        <p:spPr>
          <a:xfrm>
            <a:off x="548640" y="14904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149047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Feladatkijelölés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30352" y="213055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Trello kártya kiválasztása és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"Folyamatban" státuszba helyezése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1325880"/>
            <a:ext cx="26517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1" name="Shape 9"/>
          <p:cNvSpPr/>
          <p:nvPr/>
        </p:nvSpPr>
        <p:spPr>
          <a:xfrm>
            <a:off x="3200400" y="1325880"/>
            <a:ext cx="2651760" cy="54864"/>
          </a:xfrm>
          <a:prstGeom prst="rect">
            <a:avLst/>
          </a:prstGeom>
          <a:solidFill>
            <a:srgbClr val="065F4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2" name="Shape 10"/>
          <p:cNvSpPr/>
          <p:nvPr/>
        </p:nvSpPr>
        <p:spPr>
          <a:xfrm>
            <a:off x="3383280" y="1490472"/>
            <a:ext cx="530352" cy="530352"/>
          </a:xfrm>
          <a:prstGeom prst="ellipse">
            <a:avLst/>
          </a:prstGeom>
          <a:solidFill>
            <a:srgbClr val="065F4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3" name="Text 11"/>
          <p:cNvSpPr/>
          <p:nvPr/>
        </p:nvSpPr>
        <p:spPr>
          <a:xfrm>
            <a:off x="3383280" y="14904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023360" y="149047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Implementáció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64992" y="213055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és frontend párhuzamos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fejlesztése, API interfészek előzetes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egyeztetésével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1325880"/>
            <a:ext cx="26517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7" name="Shape 15"/>
          <p:cNvSpPr/>
          <p:nvPr/>
        </p:nvSpPr>
        <p:spPr>
          <a:xfrm>
            <a:off x="6035040" y="1325880"/>
            <a:ext cx="2651760" cy="54864"/>
          </a:xfrm>
          <a:prstGeom prst="rect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8" name="Shape 16"/>
          <p:cNvSpPr/>
          <p:nvPr/>
        </p:nvSpPr>
        <p:spPr>
          <a:xfrm>
            <a:off x="6217920" y="1490472"/>
            <a:ext cx="530352" cy="530352"/>
          </a:xfrm>
          <a:prstGeom prst="ellipse">
            <a:avLst/>
          </a:prstGeom>
          <a:solidFill>
            <a:srgbClr val="5B21B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9" name="Text 17"/>
          <p:cNvSpPr/>
          <p:nvPr/>
        </p:nvSpPr>
        <p:spPr>
          <a:xfrm>
            <a:off x="6217920" y="14904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0" y="149047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Integráció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99632" y="213055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Kész funkciók GitHub-on való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egyesítése és helyi környezetben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való tesztelése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572768" y="3246120"/>
            <a:ext cx="26517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3" name="Shape 21"/>
          <p:cNvSpPr/>
          <p:nvPr/>
        </p:nvSpPr>
        <p:spPr>
          <a:xfrm>
            <a:off x="1572768" y="3246120"/>
            <a:ext cx="2651760" cy="54864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4" name="Shape 22"/>
          <p:cNvSpPr/>
          <p:nvPr/>
        </p:nvSpPr>
        <p:spPr>
          <a:xfrm>
            <a:off x="1755648" y="3410712"/>
            <a:ext cx="530352" cy="530352"/>
          </a:xfrm>
          <a:prstGeom prst="ellipse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5" name="Text 23"/>
          <p:cNvSpPr/>
          <p:nvPr/>
        </p:nvSpPr>
        <p:spPr>
          <a:xfrm>
            <a:off x="1755648" y="34107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395728" y="341071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Ellenőrzés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737360" y="405079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Manuális tesztek és kódellenőrzés,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majd "Kész" státusz beállítása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407408" y="3246120"/>
            <a:ext cx="265176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9" name="Shape 27"/>
          <p:cNvSpPr/>
          <p:nvPr/>
        </p:nvSpPr>
        <p:spPr>
          <a:xfrm>
            <a:off x="4407408" y="3246120"/>
            <a:ext cx="2651760" cy="54864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30" name="Shape 28"/>
          <p:cNvSpPr/>
          <p:nvPr/>
        </p:nvSpPr>
        <p:spPr>
          <a:xfrm>
            <a:off x="4590288" y="3410712"/>
            <a:ext cx="530352" cy="530352"/>
          </a:xfrm>
          <a:prstGeom prst="ellipse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31" name="Text 29"/>
          <p:cNvSpPr/>
          <p:nvPr/>
        </p:nvSpPr>
        <p:spPr>
          <a:xfrm>
            <a:off x="4590288" y="34107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230368" y="341071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Iteráció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0" y="405079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Visszajelzések alapján hibajavítás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és finomhangolás elvégzése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Jövőbeli Tervek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következő fejlesztési irányok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265176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2651760" cy="64008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6" name="Shape 4"/>
          <p:cNvSpPr/>
          <p:nvPr/>
        </p:nvSpPr>
        <p:spPr>
          <a:xfrm>
            <a:off x="1389888" y="1554480"/>
            <a:ext cx="594360" cy="594360"/>
          </a:xfrm>
          <a:prstGeom prst="ellipse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hu-HU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616" y="1664208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02920" y="2286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0369A1"/>
                </a:solidFill>
              </a:rPr>
              <a:t>MONETIZÁCIÓ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30352" y="2788920"/>
            <a:ext cx="36576" cy="502920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0" name="Text 7"/>
          <p:cNvSpPr/>
          <p:nvPr/>
        </p:nvSpPr>
        <p:spPr>
          <a:xfrm>
            <a:off x="640080" y="2788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Szponzorált hirdetések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30352" y="3447288"/>
            <a:ext cx="36576" cy="502920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2" name="Text 9"/>
          <p:cNvSpPr/>
          <p:nvPr/>
        </p:nvSpPr>
        <p:spPr>
          <a:xfrm>
            <a:off x="640080" y="344728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Prémium céges profilok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30352" y="4105656"/>
            <a:ext cx="36576" cy="502920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4" name="Text 11"/>
          <p:cNvSpPr/>
          <p:nvPr/>
        </p:nvSpPr>
        <p:spPr>
          <a:xfrm>
            <a:off x="640080" y="410565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Részletesebb analitika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200400" y="1325880"/>
            <a:ext cx="265176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6" name="Shape 13"/>
          <p:cNvSpPr/>
          <p:nvPr/>
        </p:nvSpPr>
        <p:spPr>
          <a:xfrm>
            <a:off x="3200400" y="1325880"/>
            <a:ext cx="2651760" cy="64008"/>
          </a:xfrm>
          <a:prstGeom prst="rect">
            <a:avLst/>
          </a:prstGeom>
          <a:solidFill>
            <a:srgbClr val="065F4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17" name="Shape 14"/>
          <p:cNvSpPr/>
          <p:nvPr/>
        </p:nvSpPr>
        <p:spPr>
          <a:xfrm>
            <a:off x="4224528" y="1554480"/>
            <a:ext cx="594360" cy="59436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hu-HU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4256" y="1664208"/>
            <a:ext cx="365760" cy="36576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337560" y="2286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065F46"/>
                </a:solidFill>
              </a:rPr>
              <a:t>UX FEJLESZTÉS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3364992" y="2788920"/>
            <a:ext cx="36576" cy="502920"/>
          </a:xfrm>
          <a:prstGeom prst="rect">
            <a:avLst/>
          </a:prstGeom>
          <a:solidFill>
            <a:srgbClr val="065F4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1" name="Text 17"/>
          <p:cNvSpPr/>
          <p:nvPr/>
        </p:nvSpPr>
        <p:spPr>
          <a:xfrm>
            <a:off x="3474720" y="2788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Mobilalkalmazás (React Native)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3364992" y="3447288"/>
            <a:ext cx="36576" cy="502920"/>
          </a:xfrm>
          <a:prstGeom prst="rect">
            <a:avLst/>
          </a:prstGeom>
          <a:solidFill>
            <a:srgbClr val="065F4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3" name="Text 19"/>
          <p:cNvSpPr/>
          <p:nvPr/>
        </p:nvSpPr>
        <p:spPr>
          <a:xfrm>
            <a:off x="3474720" y="344728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Naptár integráció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3364992" y="4105656"/>
            <a:ext cx="36576" cy="502920"/>
          </a:xfrm>
          <a:prstGeom prst="rect">
            <a:avLst/>
          </a:prstGeom>
          <a:solidFill>
            <a:srgbClr val="065F46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5" name="Text 21"/>
          <p:cNvSpPr/>
          <p:nvPr/>
        </p:nvSpPr>
        <p:spPr>
          <a:xfrm>
            <a:off x="3474720" y="410565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OrionAI</a:t>
            </a: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CV-</a:t>
            </a:r>
            <a:r>
              <a:rPr lang="en-US" sz="12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optimalizálás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035040" y="1325880"/>
            <a:ext cx="265176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7" name="Shape 23"/>
          <p:cNvSpPr/>
          <p:nvPr/>
        </p:nvSpPr>
        <p:spPr>
          <a:xfrm>
            <a:off x="6035040" y="1325880"/>
            <a:ext cx="2651760" cy="64008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28" name="Shape 24"/>
          <p:cNvSpPr/>
          <p:nvPr/>
        </p:nvSpPr>
        <p:spPr>
          <a:xfrm>
            <a:off x="7059168" y="1554480"/>
            <a:ext cx="594360" cy="594360"/>
          </a:xfrm>
          <a:prstGeom prst="ellipse">
            <a:avLst/>
          </a:prstGeom>
          <a:solidFill>
            <a:srgbClr val="EDE9FE"/>
          </a:solidFill>
          <a:ln/>
        </p:spPr>
        <p:txBody>
          <a:bodyPr/>
          <a:lstStyle/>
          <a:p>
            <a:endParaRPr lang="hu-HU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896" y="1664208"/>
            <a:ext cx="365760" cy="36576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172200" y="2286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6D28D9"/>
                </a:solidFill>
              </a:rPr>
              <a:t>INFRASTRUKTÚRA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199632" y="2788920"/>
            <a:ext cx="36576" cy="502920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32" name="Text 27"/>
          <p:cNvSpPr/>
          <p:nvPr/>
        </p:nvSpPr>
        <p:spPr>
          <a:xfrm>
            <a:off x="6309360" y="2788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hu-HU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Adatbázis skálázás és archiválás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6199632" y="3447288"/>
            <a:ext cx="36576" cy="502920"/>
          </a:xfrm>
          <a:prstGeom prst="rect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34" name="Text 29"/>
          <p:cNvSpPr/>
          <p:nvPr/>
        </p:nvSpPr>
        <p:spPr>
          <a:xfrm>
            <a:off x="6309360" y="344728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verziókezelés (v1/v2)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D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1371600"/>
            <a:ext cx="5486400" cy="5486400"/>
          </a:xfrm>
          <a:prstGeom prst="ellipse">
            <a:avLst/>
          </a:prstGeom>
          <a:solidFill>
            <a:srgbClr val="3A5F9E">
              <a:alpha val="25000"/>
            </a:srgbClr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3" name="Shape 1"/>
          <p:cNvSpPr/>
          <p:nvPr/>
        </p:nvSpPr>
        <p:spPr>
          <a:xfrm>
            <a:off x="5943600" y="2286000"/>
            <a:ext cx="4572000" cy="4572000"/>
          </a:xfrm>
          <a:prstGeom prst="ellipse">
            <a:avLst/>
          </a:prstGeom>
          <a:solidFill>
            <a:srgbClr val="2C5AA0">
              <a:alpha val="20000"/>
            </a:srgbClr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Köszönjük a figyelmet!</a:t>
            </a:r>
            <a:endParaRPr lang="en-US" sz="50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36576"/>
          </a:xfrm>
          <a:prstGeom prst="rect">
            <a:avLst/>
          </a:prstGeom>
          <a:solidFill>
            <a:srgbClr val="2C5AA0">
              <a:alpha val="80000"/>
            </a:srgbClr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ORION – Diákmunka-platform közvetítők nélkül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286000" y="3474720"/>
            <a:ext cx="4572000" cy="658368"/>
          </a:xfrm>
          <a:prstGeom prst="rect">
            <a:avLst/>
          </a:prstGeom>
          <a:solidFill>
            <a:srgbClr val="162E52"/>
          </a:solidFill>
          <a:ln/>
        </p:spPr>
        <p:txBody>
          <a:bodyPr/>
          <a:lstStyle/>
          <a:p>
            <a:endParaRPr lang="hu-HU"/>
          </a:p>
        </p:txBody>
      </p:sp>
      <p:sp>
        <p:nvSpPr>
          <p:cNvPr id="8" name="Text 6"/>
          <p:cNvSpPr/>
          <p:nvPr/>
        </p:nvSpPr>
        <p:spPr>
          <a:xfrm>
            <a:off x="2286000" y="34747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FA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Perczel Péter Géza  ·  Stieber Domonkos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991</Words>
  <Application>Microsoft Office PowerPoint</Application>
  <PresentationFormat>On-screen Show (16:9)</PresentationFormat>
  <Paragraphs>289</Paragraphs>
  <Slides>21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ORION – Diákmunka-platform közvetítők nélkül</dc:title>
  <dc:subject>PptxGenJS Presentation</dc:subject>
  <dc:creator>Perczel Péter Géza · Stieber Domonkos</dc:creator>
  <cp:lastModifiedBy>Péter Perczel</cp:lastModifiedBy>
  <cp:revision>16</cp:revision>
  <dcterms:created xsi:type="dcterms:W3CDTF">2026-05-06T19:16:55Z</dcterms:created>
  <dcterms:modified xsi:type="dcterms:W3CDTF">2026-05-07T23:14:25Z</dcterms:modified>
</cp:coreProperties>
</file>